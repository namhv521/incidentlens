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~40 giây. Người nói chính, không đọc slide. Mở đầu bằng câu chuyện: "Một chiếc xe tự lái phanh gấp. Có 10 giây video và một file log hàng nghìn dòng. Ai sẽ trả lời: chuyện gì đã xảy ra, và bằng chứng ở đâu?" Giới thiệu: Chúng tôi là Team P-076, đề tài RAV-18. Sản phẩm là IncidentLens — trợ lý AI phân tích sự cố giao thông từ video và telemetry, tổng hợp bằng chứng và tạo bản nháp báo cáo để con người kiểm duyệt. Nhấn mạnh thông điệp xuyên suốt: AI gợi ý, bằng chứng đi kèm, người có quyền quyết định. Trước Demo Day: thay ô "P-076" bằng logo chính thức nếu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~60 giây. Đây là phần câu chuyện — nói chậm. Người dùng mục tiêu: người phân tích video/telemetry và người duyệt báo cáo sự cố giao thông (ví dụ đội vận hành xe tự lái, đội an toàn đội xe). Pain point: với mỗi hồ sơ, họ phải tua video tìm thời điểm liên quan, mở file CSV để dò phanh, gia tốc, rồi tự đối chiếu hai nguồn. Khi viết báo cáo, câu hỏi "căn cứ ở đâu?" thường chỉ có trong đầu người viết. Người duyệt khó kiểm tra lại, và khó biết ai đã sửa gì. Mức độ nghiêm trọng: một kết luận sai về sự cố ảnh hưởng tới quyết định an toàn và trách nhiệm. Số liệu: hiện CHƯA có khảo sát định lượng. Chỉ điền dòng số liệu nếu nhóm có nguồn; nếu không, xóa dòng đó và nói "chúng tôi chọn mô tả pain point cụ thể thay vì đưa con số không có nguồn".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~50 giây. IncidentLens nhận video MP4 và file telemetry CSV (tùy chọn). Hệ thống tự tìm các mốc đáng chú ý từ telemetry (phanh gấp, đánh lái, gia tốc bất thường), trích frame quanh mốc đó và cho mô hình thị giác–ngôn ngữ Qwen phân tích. Kết quả là bản nháp báo cáo, mỗi nhận định trỏ về một evidence ID cụ thể: frame nào, giây thứ mấy, hoặc khoảng telemetry nào. Khác biệt với cách làm hiện tại: không chỉ "AI tóm tắt video". Mỗi kết luận phải trích dẫn bằng chứng có thật; backend từ chối nhận định trỏ tới bằng chứng không tồn tại hoặc nằm ngoài khung thời gian. Báo cáo đi qua quy trình duyệt có phiên bản và lịch sử. Lưu ý khi nói: đây là so sánh với quy trình thủ công, không phải benchmark với các sản phẩm khác trên thị trường.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~50 giây. Ảnh chụp từ hồ sơ INC-63EB4A5673E7 trên bản deploy, tài khoản Reviewer, video ở mốc 7,7 giây. Chỉ vào từng vùng: - Trái: video sự cố, có thể seek đến đúng mốc. - Phải: telemetry đồng bộ theo giây của video gốc và tóm tắt phân tích. Ở hồ sơ này AI ghi nhận một xe minivan cắt vào làn không an toàn từ bên trái, xe tự lái giảm tốc để tránh va chạm. - Tab Inspect / Report / History: xem bằng chứng, sửa báo cáo, xem lịch sử phiên bản. User flow chính (4 bước dưới ảnh): Engineer tạo hồ sơ và tải MP4 + CSV → gửi phân tích, theo dõi tiến độ → đối chiếu video, timeline, evidence → sửa báo cáo, gửi duyệt; Reviewer phê duyệt hoặc từ chối. Hai vai trò tách biệt: Engineer chuẩn bị báo cáo, Reviewer quyết định. Backend kiểm tra quyền ở mọi thao tác.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~50 giây. Luồng: Frontend Next.js trên Vercel gọi API cùng origin; Next.js rewrite chuyển sang FastAPI trên Render. API xử lý auth, phân quyền, hồ sơ, job, báo cáo, audit và ghi vào PostgreSQL trên Neon. Upload và media đi qua SSH tunnel sang máy GPU trên Vast.ai. Ở đó có media API riêng (chỉ bind localhost), worker Python dùng FFmpeg trích frame, và Ollama chạy Qwen3.5 9B có khả năng vision. Worker claim job từ Neon, gọi Qwen, ghi kết quả về Neon. Vì sao: - Queue nằm ngay trong Postgres (claim/lease) — đủ cho MVP, bớt một hệ thống phải vận hành. - Tự host Qwen: video sự cố không gửi tới API bên thứ ba. - Render không chạy model; GPU chỉ phục vụ worker và inference. Câu hỏi "vì sao chọn LangGraph / vector store?": trả lời thẳng — chúng tôi KHÔNG dùng. Repo có một StateGraph mẫu nhưng chưa điều phối pipeline; pipeline video chạy bằng worker Python. Chưa có nhu cầu retrieval nên chưa đưa vector store vào. Không nói đây là tính năng đã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~50 giây. Pipeline (đây là "graph" thực tế của hệ thống, không phải LangGraph): 1. Trigger: từ telemetry CSV, backend tìm mốc phanh gấp, đánh lái, gia tốc bất thường; mỗi trigger thành một cửa sổ ứng viên. 2. FFmpeg trích frame quanh mốc; mỗi frame có evidence ID và t_video_s tính từ đầu video gốc. 3. Qwen3.5 9B (vision) nhận frame + số liệu telemetry đã tính sẵn, trả JSON theo schema, mô tả tiếng Việt, trạng thái luôn là DRAFT. 4. Validator trong code kiểm tra schema, evidence ID tồn tại, nằm trong khung thời gian, hash không đổi. 5. Con người đọc và duyệt. Prompt strategy: model API không có trí nhớ, nên worker giữ "trigger memory" — toàn bộ quan sát trước đó của cùng một trigger — và gửi lại mỗi lần. Frame chia BEFORE/CORE/AFTER để model so sánh chuyển động thay vì nhìn từng ảnh rời. Prompt bắt tách rõ điều quan sát được, suy luận có căn cứ và điều chưa biết; HARD_BRAKING phải trích bằng chứng telemetry, COLLISION phải có tiếp xúc thấy được.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ns2:creationId val="1024086991"/>
      </p:ext>
    </p:extLst>
  </p:cSld>
  <p:clrMapOvr>
    <a:masterClrMapping/>
  </p:clrMapOvr>
</p:notes>
</file>

<file path=ppt/notesSlides/notesSlide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~40 giây. CI: GitHub Actions chạy trên mỗi push và pull request vào main/develop, gồm 9 bước kiểm tra: Ruff lint, kiểm tra FFmpeg/FFprobe, pytest, TypeScript typecheck, ESLint, kiểm tra report editor, kiểm tra V2 client, regression frontend, và Next.js build. Đây là cấu hình CI; nếu BGK hỏi, mở tab Actions để chỉ lần chạy gần nhất (kiểm tra trước buổi thi). Test: 279 hàm test Python trong 67 file (đếm theo def test_ trong thư mục tests/). Đo live ngày 18/10/2026 từ máy thuyết trình tới https://c4-app-076.vercel.app/api/v1/health: 20 GET tuần tự sau một lượt warm-up, median 265 ms, p95 349 ms, min 233 ms, max 367 ms. Lượt đầu 22.9 giây được lưu riêng, loại khỏi mẫu warm. Thời gian gồm DNS/TLS/kết nối và đọc toàn bộ response; mỗi GET dùng kết nối mới. HTTP 200 và JSON status=ok, x-vercel-cache=MISS cho mọi mẫu. p95 dùng nearest rank. Đây là latency endpoint health qua frontend Vercel và API, không phải latency inference, upload hay job end-to-end. Coverage vẫn chưa đo. Dữ liệu gốc: presentation/build/named-deck-update/live-api-latency.json. Guardrail 2 lớp: - Lớp prompt: mọi nhận định phải trích evidence ID có trong request; không suy đoán điều chưa thấy; giữ uncertainty; báo cáo luôn ở trạng thái DRAFT, model không bao giờ tự phê duyệt. - Lớp code: Pydantic schema; evidence ID phải tồn tại, đúng recording/candidate, nằm trong khung thời gian của báo cáo, hash SHA-256 khớp file; API kiểm tra quyền theo vai trò và ghi audit. Hai lớp giảm lỗi, không bảo đảm model luôn đúng — vì vậy con người vẫn duyệt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ns2:creationId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2 phút 30 giây (phần dài nhất — để video tự nói, người thuyết trình chỉ dẫn nhịp). Kịch bản quay: 0:00–0:20 Đăng nhập Engineer, tạo hồ sơ, tải MP4 và CSV. 0:20–0:45 Gửi phân tích, xem trạng thái và tiến độ job. 0:45–1:30 Mở workspace: seek video tới mốc quan trọng, xem timeline, bấm vào từng evidence để thấy frame/telemetry tương ứng, đọc phần "Uncertainty &amp; missing evidence". 1:30–2:05 Sửa báo cáo nháp, gửi duyệt. 2:05–2:30 Đăng nhập Reviewer, phê duyệt hoặc từ chối, mở tab History để thấy phiên bản và audit. Nếu cắt thời gian chờ inference, ghi chú "đã cắt" trên video. Backup 3 tầng: 1. Live: app đã kiểm tra end-to-end, model đã warm, hồ sơ mở sẵn trong tab. 2. Video MP4 offline trên máy thuyết trình. 3. Screenshot slide 4 + báo cáo xuất sẵn để dẫn lại cùng use case. Video demo: mở thư mục Google Drive qua QR hoặc liên kết. Kiểm tra quyền xem trước buổi trình bày. Chỉ dùng dữ liệu được phép công bố, không lộ tài khoản/token.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~40 giây. Khó nhất: model thị giác chỉ nhìn một nhóm frame mỗi lần, trong khi sự cố diễn tiến theo thời gian (khởi phát → hành động → phản ứng → trạng thái cuối). Cách giải: worker giữ trigger memory — toàn bộ quan sát trước đó của cùng trigger — gửi lại mỗi request; frame được chia BEFORE/CORE/AFTER chồng lấn; bước FINAL_CANDIDATE xem lại toàn bộ chuỗi để ra một kết luận. Ghi chú cũ của model vẫn có thể sai, nên luôn giữ uncertainty và bằng chứng gốc. Bài học kỹ thuật: hệ thống chia ra Vercel, Render, Neon, Vast.ai. API trả 200 không có nghĩa job sẽ hoàn tất — cần đồng thời tunnel SSH, media service, worker và Ollama. Chúng tôi học cách kiểm tra từng chặng và cả đường đi end-to-end. Nếu làm lại: khóa golden dataset và quy trình chuyên gia gán nhãn ngay tuần đầu, rồi mới tối ưu sampling/prompt dựa trên số đo thật. Hiện chúng tôi tối ưu theo quan sát, chưa có benchmark — đó là khoảng trống lớn nhất. [Nhóm bổ sung: một khó khăn cụ thể từ JOURNAL/WORKLOG nếu muốn kể chuyện cá nhân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Thời lượng: ~30 giây, rồi chuyển sang Q&amp;A. Team P-076: Nam Hoang — tích hợp hệ thống, pipeline AI/telemetry, kiểm thử; Nguyễn Văn Hồng — frontend, workspace báo cáo, UX; Nguyễn Hoàng — backend, tài liệu kiến trúc; LeTuanDat — tích hợp Qwen 9B. (Vai trò tổng hợp từ Git/worklog — nhóm xác nhận lại tên hiển thị và phân công chính thức trước buổi thi.) Roadmap: (1) thu thập 50 case được phép dùng, hai chuyên gia gán nhãn độc lập; (2) chạy benchmark: candidate recall, độ chính xác bằng chứng, độ lệch thời gian, p95 latency, chi phí mỗi báo cáo được chấp nhận; (3) hoàn thiện workspace V2 và kiểm thử end-to-end trên deployment. Kết: "IncidentLens không thay người điều tra — nó giúp mọi kết luận đều chỉ ra được bằng chứng. Cảm ơn BGK, chúng tôi sẵn sàng nhận câu hỏi." QR trỏ tới https://c4-app-076.vercel.app (URL deploy ghi trong README). Kiểm tra link còn sống và có tài khoản demo trước buổi thi; nếu không, đổi QR. Câu hỏi có thể gặp: Vì sao không dùng RAG/LangGraph? Độ chính xác bao nhiêu? (trả lời: chưa có benchmark chuyên gia, đây là bước 1). Chi phí GPU? Xử lý video không có telemetry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E172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60"/>
            <a:ext cx="10566400" cy="525780"/>
          </a:xfrm>
          <a:prstGeom prst="rect">
            <a:avLst/>
          </a:prstGeom>
          <a:noFill/>
          <a:ln/>
        </p:spPr>
        <p:txBody>
          <a:bodyPr wrap="square" lIns="0" tIns="0" rIns="0" bIns="0" rtlCol="0" anchor="t"/>
          <a:lstStyle>
            <a:lvl1pPr algn="l" indent="0" marL="0">
              <a:lnSpc>
                <a:spcPct val="115000"/>
              </a:lnSpc>
              <a:buNone/>
              <a:defRPr lang="en-US" sz="3600" dirty="0">
                <a:solidFill>
                  <a:srgbClr val="EEF2F6"/>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61540"/>
            <a:ext cx="10566400" cy="3883660"/>
          </a:xfrm>
          <a:prstGeom prst="rect">
            <a:avLst/>
          </a:prstGeom>
          <a:noFill/>
          <a:ln/>
        </p:spPr>
        <p:txBody>
          <a:bodyPr wrap="square" lIns="0" tIns="0" rIns="0" bIns="0" rtlCol="0" anchor="t"/>
          <a:lstStyle>
            <a:lvl1pPr algn="l" indent="0" marL="0">
              <a:lnSpc>
                <a:spcPct val="140000"/>
              </a:lnSpc>
              <a:buNone/>
              <a:defRPr lang="en-US" sz="1600" dirty="0">
                <a:solidFill>
                  <a:srgbClr val="EEF2F6"/>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330960"/>
            <a:ext cx="10566400" cy="525780"/>
          </a:xfrm>
          <a:prstGeom prst="rect">
            <a:avLst/>
          </a:prstGeom>
          <a:noFill/>
          <a:ln/>
        </p:spPr>
        <p:txBody>
          <a:bodyPr wrap="square" lIns="0" tIns="0" rIns="0" bIns="0" rtlCol="0" anchor="t"/>
          <a:lstStyle>
            <a:lvl1pPr algn="l" indent="0" marL="0">
              <a:lnSpc>
                <a:spcPct val="115000"/>
              </a:lnSpc>
              <a:buNone/>
              <a:defRPr lang="en-US" sz="3600" dirty="0">
                <a:solidFill>
                  <a:srgbClr val="EEF2F6"/>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61540"/>
            <a:ext cx="10566400" cy="3883660"/>
          </a:xfrm>
          <a:prstGeom prst="rect">
            <a:avLst/>
          </a:prstGeom>
          <a:noFill/>
          <a:ln/>
        </p:spPr>
        <p:txBody>
          <a:bodyPr wrap="square" lIns="0" tIns="0" rIns="0" bIns="0" rtlCol="0" anchor="t"/>
          <a:lstStyle>
            <a:lvl1pPr algn="l" indent="0" marL="0">
              <a:lnSpc>
                <a:spcPct val="140000"/>
              </a:lnSpc>
              <a:buNone/>
              <a:defRPr lang="en-US" sz="1600" dirty="0">
                <a:solidFill>
                  <a:srgbClr val="EEF2F6"/>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330960"/>
            <a:ext cx="10566400" cy="525780"/>
          </a:xfrm>
          <a:prstGeom prst="rect">
            <a:avLst/>
          </a:prstGeom>
          <a:noFill/>
          <a:ln/>
        </p:spPr>
        <p:txBody>
          <a:bodyPr wrap="square" lIns="0" tIns="0" rIns="0" bIns="0" rtlCol="0" anchor="t"/>
          <a:lstStyle>
            <a:lvl1pPr algn="l" indent="0" marL="0">
              <a:lnSpc>
                <a:spcPct val="115000"/>
              </a:lnSpc>
              <a:buNone/>
              <a:defRPr lang="en-US" sz="3600" dirty="0">
                <a:solidFill>
                  <a:srgbClr val="EEF2F6"/>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61540"/>
            <a:ext cx="10566400" cy="3883660"/>
          </a:xfrm>
          <a:prstGeom prst="rect">
            <a:avLst/>
          </a:prstGeom>
          <a:noFill/>
          <a:ln/>
        </p:spPr>
        <p:txBody>
          <a:bodyPr wrap="square" lIns="0" tIns="0" rIns="0" bIns="0" rtlCol="0" anchor="t"/>
          <a:lstStyle>
            <a:lvl1pPr algn="l" indent="0" marL="0">
              <a:lnSpc>
                <a:spcPct val="140000"/>
              </a:lnSpc>
              <a:buNone/>
              <a:defRPr lang="en-US" sz="1600" dirty="0">
                <a:solidFill>
                  <a:srgbClr val="EEF2F6"/>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172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60"/>
            <a:ext cx="10566400" cy="525780"/>
          </a:xfrm>
          <a:prstGeom prst="rect">
            <a:avLst/>
          </a:prstGeom>
          <a:noFill/>
          <a:ln/>
        </p:spPr>
        <p:txBody>
          <a:bodyPr wrap="square" lIns="0" tIns="0" rIns="0" bIns="0" rtlCol="0" anchor="t"/>
          <a:lstStyle>
            <a:lvl1pPr algn="l" indent="0" marL="0">
              <a:lnSpc>
                <a:spcPct val="115000"/>
              </a:lnSpc>
              <a:buNone/>
              <a:defRPr lang="en-US" sz="3600" dirty="0">
                <a:solidFill>
                  <a:srgbClr val="EEF2F6"/>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61540"/>
            <a:ext cx="10566400" cy="3883660"/>
          </a:xfrm>
          <a:prstGeom prst="rect">
            <a:avLst/>
          </a:prstGeom>
          <a:noFill/>
          <a:ln/>
        </p:spPr>
        <p:txBody>
          <a:bodyPr wrap="square" lIns="0" tIns="0" rIns="0" bIns="0" rtlCol="0" anchor="t"/>
          <a:lstStyle>
            <a:lvl1pPr algn="l" indent="0" marL="0">
              <a:lnSpc>
                <a:spcPct val="140000"/>
              </a:lnSpc>
              <a:buNone/>
              <a:defRPr lang="en-US" sz="1600" dirty="0">
                <a:solidFill>
                  <a:srgbClr val="EEF2F6"/>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 Id="rIdDemoVideo" Type="http://schemas.openxmlformats.org/officeDocument/2006/relationships/hyperlink" Target="https://drive.google.com/drive/u/0/folders/1GUCSTxV4Yn6lqidC9swo_3R8pByG3UD6"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12800" y="1963420"/>
            <a:ext cx="6540500"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5A524"/>
                </a:solidFill>
                <a:latin typeface="Courier New" pitchFamily="49" charset="0"/>
                <a:ea typeface="Courier New" pitchFamily="49" charset="-122"/>
                <a:cs typeface="Courier New" pitchFamily="49" charset="-120"/>
              </a:rPr>
              <a:t>TEAM P-076 · ĐỀ TÀI RAV-18</a:t>
            </a:r>
            <a:endParaRPr lang="en-US" sz="1200" dirty="0"/>
          </a:p>
        </p:txBody>
      </p:sp>
      <p:sp>
        <p:nvSpPr>
          <p:cNvPr id="3" name="Text 1"/>
          <p:cNvSpPr/>
          <p:nvPr>
            <p:ph type="title"/>
          </p:nvPr>
        </p:nvSpPr>
        <p:spPr>
          <a:xfrm>
            <a:off x="812800" y="2430780"/>
            <a:ext cx="6540500" cy="787400"/>
          </a:xfrm>
          <a:prstGeom prst="rect">
            <a:avLst/>
          </a:prstGeom>
          <a:noFill/>
          <a:ln/>
        </p:spPr>
        <p:txBody>
          <a:bodyPr wrap="square" lIns="0" tIns="0" rIns="0" bIns="0" rtlCol="0" anchor="t">
            <a:normAutofit/>
          </a:bodyPr>
          <a:lstStyle/>
          <a:p>
            <a:pPr algn="l" indent="0" marL="0">
              <a:lnSpc>
                <a:spcPts val="6000"/>
              </a:lnSpc>
              <a:buNone/>
            </a:pPr>
            <a:r>
              <a:rPr lang="en-US" sz="6000" b="1" i="0" spc="-100" kern="0" dirty="0">
                <a:solidFill>
                  <a:srgbClr val="EEF2F6"/>
                </a:solidFill>
                <a:latin typeface="Arial" pitchFamily="34" charset="0"/>
                <a:ea typeface="Arial" pitchFamily="34" charset="-122"/>
                <a:cs typeface="Arial" pitchFamily="34" charset="-120"/>
              </a:rPr>
              <a:t>IncidentLens</a:t>
            </a:r>
            <a:endParaRPr lang="en-US" sz="6000" dirty="0"/>
          </a:p>
        </p:txBody>
      </p:sp>
      <p:sp>
        <p:nvSpPr>
          <p:cNvPr id="4" name="Text 2"/>
          <p:cNvSpPr/>
          <p:nvPr/>
        </p:nvSpPr>
        <p:spPr>
          <a:xfrm>
            <a:off x="812800" y="3446780"/>
            <a:ext cx="654050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4E2"/>
                </a:solidFill>
                <a:latin typeface="Arial" pitchFamily="34" charset="0"/>
                <a:ea typeface="Arial" pitchFamily="34" charset="-122"/>
                <a:cs typeface="Arial" pitchFamily="34" charset="-120"/>
              </a:rPr>
              <a:t>AI đọc video + telemetry, chỉ ra bằng chứng. Con người quyết định.</a:t>
            </a:r>
            <a:endParaRPr lang="en-US" sz="2200" dirty="0"/>
          </a:p>
        </p:txBody>
      </p:sp>
      <p:sp>
        <p:nvSpPr>
          <p:cNvPr id="5" name="Shape 3"/>
          <p:cNvSpPr/>
          <p:nvPr/>
        </p:nvSpPr>
        <p:spPr>
          <a:xfrm>
            <a:off x="815975" y="4430395"/>
            <a:ext cx="1197769" cy="461010"/>
          </a:xfrm>
          <a:prstGeom prst="roundRect">
            <a:avLst>
              <a:gd name="adj" fmla="val 21350"/>
            </a:avLst>
          </a:prstGeom>
          <a:solidFill>
            <a:srgbClr val="1A2840"/>
          </a:solidFill>
          <a:ln w="6350">
            <a:solidFill>
              <a:srgbClr val="2A3A55"/>
            </a:solidFill>
            <a:prstDash val="solid"/>
          </a:ln>
        </p:spPr>
      </p:sp>
      <p:pic>
        <p:nvPicPr>
          <p:cNvPr id="6" name="Image 0" descr="Search">    </p:cNvPr>
          <p:cNvPicPr>
            <a:picLocks noChangeAspect="1"/>
          </p:cNvPicPr>
          <p:nvPr/>
        </p:nvPicPr>
        <p:blipFill>
          <a:blip r:embed="rId1"/>
          <a:srcRect l="0" r="0" t="0" b="0"/>
          <a:stretch/>
        </p:blipFill>
        <p:spPr>
          <a:xfrm>
            <a:off x="970280" y="4533900"/>
            <a:ext cx="254000" cy="254000"/>
          </a:xfrm>
          <a:prstGeom prst="rect">
            <a:avLst/>
          </a:prstGeom>
        </p:spPr>
      </p:pic>
      <p:sp>
        <p:nvSpPr>
          <p:cNvPr id="7" name="Text 4"/>
          <p:cNvSpPr/>
          <p:nvPr/>
        </p:nvSpPr>
        <p:spPr>
          <a:xfrm>
            <a:off x="1325880" y="4536440"/>
            <a:ext cx="64027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EF2F6"/>
                </a:solidFill>
                <a:latin typeface="Courier New" pitchFamily="49" charset="0"/>
                <a:ea typeface="Courier New" pitchFamily="49" charset="-122"/>
                <a:cs typeface="Courier New" pitchFamily="49" charset="-120"/>
              </a:rPr>
              <a:t>P-076</a:t>
            </a:r>
            <a:endParaRPr lang="en-US" sz="1400" dirty="0"/>
          </a:p>
        </p:txBody>
      </p:sp>
      <p:sp>
        <p:nvSpPr>
          <p:cNvPr id="8" name="Text 5"/>
          <p:cNvSpPr/>
          <p:nvPr/>
        </p:nvSpPr>
        <p:spPr>
          <a:xfrm>
            <a:off x="2169319" y="4518660"/>
            <a:ext cx="2724436"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EBBCB"/>
                </a:solidFill>
                <a:latin typeface="Arial" pitchFamily="34" charset="0"/>
                <a:ea typeface="Arial" pitchFamily="34" charset="-122"/>
                <a:cs typeface="Arial" pitchFamily="34" charset="-120"/>
              </a:rPr>
              <a:t>Demo Day</a:t>
            </a:r>
            <a:endParaRPr lang="en-US" sz="1600" dirty="0"/>
          </a:p>
        </p:txBody>
      </p:sp>
      <p:pic>
        <p:nvPicPr>
          <p:cNvPr id="9" name="Image 1" descr="Trang giới thiệu IncidentLens: các thẻ Video, Telemetry, Evidence quay quanh mặt trăng">    </p:cNvPr>
          <p:cNvPicPr>
            <a:picLocks noChangeAspect="1"/>
          </p:cNvPicPr>
          <p:nvPr/>
        </p:nvPicPr>
        <p:blipFill>
          <a:blip r:embed="rId2"/>
          <a:srcRect l="0" r="0" t="226" b="226"/>
          <a:stretch/>
        </p:blipFill>
        <p:spPr>
          <a:xfrm>
            <a:off x="7575550" y="1835150"/>
            <a:ext cx="3797300" cy="3187700"/>
          </a:xfrm>
          <a:prstGeom prst="roundRect">
            <a:avLst>
              <a:gd name="adj" fmla="val 4582"/>
            </a:avLst>
          </a:prstGeom>
        </p:spPr>
      </p:pic>
      <p:sp>
        <p:nvSpPr>
          <p:cNvPr id="10" name="Shape 6"/>
          <p:cNvSpPr/>
          <p:nvPr/>
        </p:nvSpPr>
        <p:spPr>
          <a:xfrm>
            <a:off x="7572375" y="1831975"/>
            <a:ext cx="3803650" cy="3194050"/>
          </a:xfrm>
          <a:prstGeom prst="roundRect">
            <a:avLst>
              <a:gd name="adj" fmla="val 4672"/>
            </a:avLst>
          </a:prstGeom>
          <a:noFill/>
          <a:ln w="6350">
            <a:solidFill>
              <a:srgbClr val="2A3A5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5A524"/>
                </a:solidFill>
                <a:latin typeface="Courier New" pitchFamily="49" charset="0"/>
                <a:ea typeface="Courier New" pitchFamily="49" charset="-122"/>
                <a:cs typeface="Courier New" pitchFamily="49" charset="-120"/>
              </a:rPr>
              <a:t>01 · VẤN ĐỀ</a:t>
            </a:r>
            <a:endParaRPr lang="en-US" sz="1200" dirty="0"/>
          </a:p>
        </p:txBody>
      </p:sp>
      <p:sp>
        <p:nvSpPr>
          <p:cNvPr id="3" name="Text 1"/>
          <p:cNvSpPr/>
          <p:nvPr>
            <p:ph type="title"/>
          </p:nvPr>
        </p:nvSpPr>
        <p:spPr>
          <a:xfrm>
            <a:off x="812800" y="1330960"/>
            <a:ext cx="10883392" cy="10769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EEF2F6"/>
                </a:solidFill>
                <a:latin typeface="Arial" pitchFamily="34" charset="0"/>
                <a:ea typeface="Arial" pitchFamily="34" charset="-122"/>
                <a:cs typeface="Arial" pitchFamily="34" charset="-120"/>
              </a:rPr>
              <a:t>Video một nơi, log một nơi. Kết luận thiếu căn cứ.</a:t>
            </a:r>
            <a:endParaRPr lang="en-US" sz="3600" dirty="0"/>
          </a:p>
        </p:txBody>
      </p:sp>
      <p:sp>
        <p:nvSpPr>
          <p:cNvPr id="4" name="Shape 2"/>
          <p:cNvSpPr/>
          <p:nvPr/>
        </p:nvSpPr>
        <p:spPr>
          <a:xfrm>
            <a:off x="815975" y="2690495"/>
            <a:ext cx="3380264" cy="1934210"/>
          </a:xfrm>
          <a:prstGeom prst="roundRect">
            <a:avLst>
              <a:gd name="adj" fmla="val 6402"/>
            </a:avLst>
          </a:prstGeom>
          <a:solidFill>
            <a:srgbClr val="1A2840"/>
          </a:solidFill>
          <a:ln w="6350">
            <a:solidFill>
              <a:srgbClr val="2A3A55"/>
            </a:solidFill>
            <a:prstDash val="solid"/>
          </a:ln>
        </p:spPr>
      </p:sp>
      <p:pic>
        <p:nvPicPr>
          <p:cNvPr id="5" name="Image 0" descr="Users">    </p:cNvPr>
          <p:cNvPicPr>
            <a:picLocks noChangeAspect="1"/>
          </p:cNvPicPr>
          <p:nvPr/>
        </p:nvPicPr>
        <p:blipFill>
          <a:blip r:embed="rId1"/>
          <a:srcRect l="0" r="0" t="0" b="0"/>
          <a:stretch/>
        </p:blipFill>
        <p:spPr>
          <a:xfrm>
            <a:off x="1071880" y="2946400"/>
            <a:ext cx="355600" cy="355600"/>
          </a:xfrm>
          <a:prstGeom prst="rect">
            <a:avLst/>
          </a:prstGeom>
        </p:spPr>
      </p:pic>
      <p:sp>
        <p:nvSpPr>
          <p:cNvPr id="6" name="Text 3"/>
          <p:cNvSpPr/>
          <p:nvPr/>
        </p:nvSpPr>
        <p:spPr>
          <a:xfrm>
            <a:off x="1071880" y="3429000"/>
            <a:ext cx="29545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2F6"/>
                </a:solidFill>
                <a:latin typeface="Arial" pitchFamily="34" charset="0"/>
                <a:ea typeface="Arial" pitchFamily="34" charset="-122"/>
                <a:cs typeface="Arial" pitchFamily="34" charset="-120"/>
              </a:rPr>
              <a:t>Ai gặp?</a:t>
            </a:r>
            <a:endParaRPr lang="en-US" sz="1600" dirty="0"/>
          </a:p>
        </p:txBody>
      </p:sp>
      <p:sp>
        <p:nvSpPr>
          <p:cNvPr id="7" name="Text 4"/>
          <p:cNvSpPr/>
          <p:nvPr/>
        </p:nvSpPr>
        <p:spPr>
          <a:xfrm>
            <a:off x="1071880" y="3799840"/>
            <a:ext cx="2954507"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EBBCB"/>
                </a:solidFill>
                <a:latin typeface="Arial" pitchFamily="34" charset="0"/>
                <a:ea typeface="Arial" pitchFamily="34" charset="-122"/>
                <a:cs typeface="Arial" pitchFamily="34" charset="-120"/>
              </a:rPr>
              <a:t>Người phân tích và người duyệt sự cố</a:t>
            </a:r>
            <a:endParaRPr lang="en-US" sz="1600" dirty="0"/>
          </a:p>
        </p:txBody>
      </p:sp>
      <p:sp>
        <p:nvSpPr>
          <p:cNvPr id="8" name="Shape 5"/>
          <p:cNvSpPr/>
          <p:nvPr/>
        </p:nvSpPr>
        <p:spPr>
          <a:xfrm>
            <a:off x="4405789" y="2690495"/>
            <a:ext cx="3380343" cy="1934210"/>
          </a:xfrm>
          <a:prstGeom prst="roundRect">
            <a:avLst>
              <a:gd name="adj" fmla="val 6402"/>
            </a:avLst>
          </a:prstGeom>
          <a:solidFill>
            <a:srgbClr val="1A2840"/>
          </a:solidFill>
          <a:ln w="6350">
            <a:solidFill>
              <a:srgbClr val="2A3A55"/>
            </a:solidFill>
            <a:prstDash val="solid"/>
          </a:ln>
        </p:spPr>
      </p:sp>
      <p:pic>
        <p:nvPicPr>
          <p:cNvPr id="9" name="Image 1" descr="Clock">    </p:cNvPr>
          <p:cNvPicPr>
            <a:picLocks noChangeAspect="1"/>
          </p:cNvPicPr>
          <p:nvPr/>
        </p:nvPicPr>
        <p:blipFill>
          <a:blip r:embed="rId2"/>
          <a:srcRect l="0" r="0" t="0" b="0"/>
          <a:stretch/>
        </p:blipFill>
        <p:spPr>
          <a:xfrm>
            <a:off x="4661694" y="2946400"/>
            <a:ext cx="355600" cy="355600"/>
          </a:xfrm>
          <a:prstGeom prst="rect">
            <a:avLst/>
          </a:prstGeom>
        </p:spPr>
      </p:pic>
      <p:sp>
        <p:nvSpPr>
          <p:cNvPr id="10" name="Text 6"/>
          <p:cNvSpPr/>
          <p:nvPr/>
        </p:nvSpPr>
        <p:spPr>
          <a:xfrm>
            <a:off x="4661694" y="3429000"/>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2F6"/>
                </a:solidFill>
                <a:latin typeface="Arial" pitchFamily="34" charset="0"/>
                <a:ea typeface="Arial" pitchFamily="34" charset="-122"/>
                <a:cs typeface="Arial" pitchFamily="34" charset="-120"/>
              </a:rPr>
              <a:t>Đau ở đâu?</a:t>
            </a:r>
            <a:endParaRPr lang="en-US" sz="1600" dirty="0"/>
          </a:p>
        </p:txBody>
      </p:sp>
      <p:sp>
        <p:nvSpPr>
          <p:cNvPr id="11" name="Text 7"/>
          <p:cNvSpPr/>
          <p:nvPr/>
        </p:nvSpPr>
        <p:spPr>
          <a:xfrm>
            <a:off x="4661694" y="3799840"/>
            <a:ext cx="295458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EBBCB"/>
                </a:solidFill>
                <a:latin typeface="Arial" pitchFamily="34" charset="0"/>
                <a:ea typeface="Arial" pitchFamily="34" charset="-122"/>
                <a:cs typeface="Arial" pitchFamily="34" charset="-120"/>
              </a:rPr>
              <a:t>Tua video, dò CSV, đối chiếu bằng tay</a:t>
            </a:r>
            <a:endParaRPr lang="en-US" sz="1600" dirty="0"/>
          </a:p>
        </p:txBody>
      </p:sp>
      <p:sp>
        <p:nvSpPr>
          <p:cNvPr id="12" name="Shape 8"/>
          <p:cNvSpPr/>
          <p:nvPr/>
        </p:nvSpPr>
        <p:spPr>
          <a:xfrm>
            <a:off x="7995682" y="2690495"/>
            <a:ext cx="3380343" cy="1934210"/>
          </a:xfrm>
          <a:prstGeom prst="roundRect">
            <a:avLst>
              <a:gd name="adj" fmla="val 6402"/>
            </a:avLst>
          </a:prstGeom>
          <a:solidFill>
            <a:srgbClr val="1A2840"/>
          </a:solidFill>
          <a:ln w="6350">
            <a:solidFill>
              <a:srgbClr val="2A3A55"/>
            </a:solidFill>
            <a:prstDash val="solid"/>
          </a:ln>
        </p:spPr>
      </p:sp>
      <p:pic>
        <p:nvPicPr>
          <p:cNvPr id="13" name="Image 2" descr="Warning">    </p:cNvPr>
          <p:cNvPicPr>
            <a:picLocks noChangeAspect="1"/>
          </p:cNvPicPr>
          <p:nvPr/>
        </p:nvPicPr>
        <p:blipFill>
          <a:blip r:embed="rId3"/>
          <a:srcRect l="0" r="0" t="0" b="0"/>
          <a:stretch/>
        </p:blipFill>
        <p:spPr>
          <a:xfrm>
            <a:off x="8251587" y="2946400"/>
            <a:ext cx="355600" cy="355600"/>
          </a:xfrm>
          <a:prstGeom prst="rect">
            <a:avLst/>
          </a:prstGeom>
        </p:spPr>
      </p:pic>
      <p:sp>
        <p:nvSpPr>
          <p:cNvPr id="14" name="Text 9"/>
          <p:cNvSpPr/>
          <p:nvPr/>
        </p:nvSpPr>
        <p:spPr>
          <a:xfrm>
            <a:off x="8251587" y="3429000"/>
            <a:ext cx="295458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2F6"/>
                </a:solidFill>
                <a:latin typeface="Arial" pitchFamily="34" charset="0"/>
                <a:ea typeface="Arial" pitchFamily="34" charset="-122"/>
                <a:cs typeface="Arial" pitchFamily="34" charset="-120"/>
              </a:rPr>
              <a:t>Hậu quả</a:t>
            </a:r>
            <a:endParaRPr lang="en-US" sz="1600" dirty="0"/>
          </a:p>
        </p:txBody>
      </p:sp>
      <p:sp>
        <p:nvSpPr>
          <p:cNvPr id="15" name="Text 10"/>
          <p:cNvSpPr/>
          <p:nvPr/>
        </p:nvSpPr>
        <p:spPr>
          <a:xfrm>
            <a:off x="8251587" y="3799840"/>
            <a:ext cx="2954589"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EBBCB"/>
                </a:solidFill>
                <a:latin typeface="Arial" pitchFamily="34" charset="0"/>
                <a:ea typeface="Arial" pitchFamily="34" charset="-122"/>
                <a:cs typeface="Arial" pitchFamily="34" charset="-120"/>
              </a:rPr>
              <a:t>Báo cáo khó kiểm chứng, khó truy vết</a:t>
            </a:r>
            <a:endParaRPr lang="en-US" sz="1600" dirty="0"/>
          </a:p>
        </p:txBody>
      </p:sp>
      <p:sp>
        <p:nvSpPr>
          <p:cNvPr id="16" name="Text 11"/>
          <p:cNvSpPr/>
          <p:nvPr/>
        </p:nvSpPr>
        <p:spPr>
          <a:xfrm>
            <a:off x="812800" y="49326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7F8DA3"/>
                </a:solidFill>
                <a:latin typeface="Arial" pitchFamily="34" charset="0"/>
                <a:ea typeface="Arial" pitchFamily="34" charset="-122"/>
                <a:cs typeface="Arial" pitchFamily="34" charset="-120"/>
              </a:rPr>
              <a:t>[Số liệu: __ phút xem lại mỗi hồ sơ — chỉ điền khi có nguồn]</a:t>
            </a:r>
            <a:endParaRPr lang="en-US" sz="1400" dirty="0"/>
          </a:p>
        </p:txBody>
      </p:sp>
      <p:sp>
        <p:nvSpPr>
          <p:cNvPr id="17" name="Text 12"/>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IncidentLens · Team P-076</a:t>
            </a:r>
            <a:endParaRPr lang="en-US" sz="1200" dirty="0"/>
          </a:p>
        </p:txBody>
      </p:sp>
      <p:sp>
        <p:nvSpPr>
          <p:cNvPr id="18" name="Text 13"/>
          <p:cNvSpPr/>
          <p:nvPr/>
        </p:nvSpPr>
        <p:spPr>
          <a:xfrm>
            <a:off x="9417050" y="6238241"/>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02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5A524"/>
                </a:solidFill>
                <a:latin typeface="Courier New" pitchFamily="49" charset="0"/>
                <a:ea typeface="Courier New" pitchFamily="49" charset="-122"/>
                <a:cs typeface="Courier New" pitchFamily="49" charset="-120"/>
              </a:rPr>
              <a:t>02 · GIẢI PHÁP</a:t>
            </a:r>
            <a:endParaRPr lang="en-US" sz="1200" dirty="0"/>
          </a:p>
        </p:txBody>
      </p:sp>
      <p:sp>
        <p:nvSpPr>
          <p:cNvPr id="3" name="Text 1"/>
          <p:cNvSpPr/>
          <p:nvPr>
            <p:ph type="title"/>
          </p:nvPr>
        </p:nvSpPr>
        <p:spPr>
          <a:xfrm>
            <a:off x="812800" y="1330961"/>
            <a:ext cx="10883392" cy="10769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EEF2F6"/>
                </a:solidFill>
                <a:latin typeface="Arial" pitchFamily="34" charset="0"/>
                <a:ea typeface="Arial" pitchFamily="34" charset="-122"/>
                <a:cs typeface="Arial" pitchFamily="34" charset="-120"/>
              </a:rPr>
              <a:t>AI gợi ý, bằng chứng đi kèm, người duyệt chốt.</a:t>
            </a:r>
            <a:endParaRPr lang="en-US" sz="3600" dirty="0"/>
          </a:p>
        </p:txBody>
      </p:sp>
      <p:sp>
        <p:nvSpPr>
          <p:cNvPr id="4" name="Shape 2"/>
          <p:cNvSpPr/>
          <p:nvPr/>
        </p:nvSpPr>
        <p:spPr>
          <a:xfrm>
            <a:off x="812800" y="2687320"/>
            <a:ext cx="10566400" cy="2209800"/>
          </a:xfrm>
          <a:custGeom>
            <a:avLst/>
            <a:gdLst/>
            <a:ahLst/>
            <a:cxnLst/>
            <a:rect l="l" t="t" r="r" b="b"/>
            <a:pathLst>
              <a:path w="10566400" h="2209800">
                <a:moveTo>
                  <a:pt x="10439400" y="0"/>
                </a:moveTo>
                <a:lnTo>
                  <a:pt x="10439400" y="0"/>
                </a:lnTo>
                <a:arcTo hR="127000" wR="127000" stAng="16200000" swAng="5400000"/>
                <a:lnTo>
                  <a:pt x="10566400" y="2082800"/>
                </a:lnTo>
                <a:arcTo hR="127000" wR="127000" stAng="0" swAng="5400000"/>
                <a:lnTo>
                  <a:pt x="127000" y="2209800"/>
                </a:lnTo>
                <a:arcTo hR="127000" wR="127000" stAng="5400000" swAng="5400000"/>
                <a:lnTo>
                  <a:pt x="0" y="2082800"/>
                </a:lnTo>
                <a:arcTo hR="120650" wR="127000" stAng="10800000" swAng="-5400000"/>
                <a:lnTo>
                  <a:pt x="10439400" y="2203450"/>
                </a:lnTo>
                <a:arcTo hR="120650" wR="120650" stAng="5400000" swAng="-5400000"/>
                <a:lnTo>
                  <a:pt x="10560050" y="127000"/>
                </a:lnTo>
                <a:arcTo hR="127000" wR="120650" stAng="0" swAng="-5400000"/>
                <a:close/>
              </a:path>
            </a:pathLst>
          </a:custGeom>
          <a:solidFill>
            <a:srgbClr val="2A3A55"/>
          </a:solidFill>
          <a:ln/>
        </p:spPr>
      </p:sp>
      <p:sp>
        <p:nvSpPr>
          <p:cNvPr id="5" name="Shape 3"/>
          <p:cNvSpPr/>
          <p:nvPr/>
        </p:nvSpPr>
        <p:spPr>
          <a:xfrm>
            <a:off x="812800" y="2687320"/>
            <a:ext cx="10566400" cy="2209800"/>
          </a:xfrm>
          <a:custGeom>
            <a:avLst/>
            <a:gdLst/>
            <a:ahLst/>
            <a:cxnLst/>
            <a:rect l="l" t="t" r="r" b="b"/>
            <a:pathLst>
              <a:path w="10566400" h="2209800">
                <a:moveTo>
                  <a:pt x="127000" y="2209800"/>
                </a:moveTo>
                <a:lnTo>
                  <a:pt x="127000" y="2209800"/>
                </a:lnTo>
                <a:arcTo hR="127000" wR="127000" stAng="5400000" swAng="5400000"/>
                <a:lnTo>
                  <a:pt x="0" y="127000"/>
                </a:lnTo>
                <a:arcTo hR="127000" wR="127000" stAng="10800000" swAng="5400000"/>
                <a:lnTo>
                  <a:pt x="10439400" y="0"/>
                </a:lnTo>
                <a:arcTo hR="127000" wR="127000" stAng="16200000" swAng="5400000"/>
                <a:lnTo>
                  <a:pt x="10566400" y="127000"/>
                </a:lnTo>
                <a:arcTo hR="116840" wR="127000" stAng="0" swAng="-5400000"/>
                <a:lnTo>
                  <a:pt x="127000" y="10160"/>
                </a:lnTo>
                <a:arcTo hR="116840" wR="116840" stAng="16200000" swAng="-5400000"/>
                <a:lnTo>
                  <a:pt x="10160" y="2082800"/>
                </a:lnTo>
                <a:arcTo hR="127000" wR="116840" stAng="10800000" swAng="-5400000"/>
                <a:close/>
              </a:path>
            </a:pathLst>
          </a:custGeom>
          <a:solidFill>
            <a:srgbClr val="FAF9F5">
              <a:alpha val="22000"/>
            </a:srgbClr>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2697480"/>
          <a:ext cx="10551160" cy="2194560"/>
        </p:xfrm>
        <a:graphic>
          <a:graphicData uri="http://schemas.openxmlformats.org/drawingml/2006/table">
            <a:tbl>
              <a:tblPr/>
              <a:tblGrid>
                <a:gridCol w="2954325"/>
                <a:gridCol w="3165348"/>
                <a:gridCol w="4431487"/>
              </a:tblGrid>
              <a:tr h="548640">
                <a:tc>
                  <a:txBody>
                    <a:bodyPr/>
                    <a:lstStyle/>
                    <a:p>
                      <a:pPr indent="0" marL="0">
                        <a:lnSpc>
                          <a:spcPts val="2240"/>
                        </a:lnSpc>
                        <a:buNone/>
                      </a:pPr>
                      <a:r>
                        <a:rPr lang="en-US" sz="1600" b="1" dirty="0">
                          <a:solidFill>
                            <a:srgbClr val="AEBBCB"/>
                          </a:solidFill>
                          <a:latin typeface="Arial" pitchFamily="34" charset="0"/>
                          <a:ea typeface="Arial" pitchFamily="34" charset="-122"/>
                          <a:cs typeface="Arial" pitchFamily="34" charset="-120"/>
                        </a:rPr>
                        <a:t>Bước</a:t>
                      </a:r>
                      <a:endParaRPr lang="en-US" sz="1600" dirty="0">
                        <a:latin typeface="Arial" charset="0"/>
                        <a:ea typeface="Arial" charset="0"/>
                        <a:cs typeface="Arial" charset="0"/>
                      </a:endParaRPr>
                    </a:p>
                  </a:txBody>
                  <a:tcPr marL="177800" marR="177800" marT="127000" marB="127000" anchor="t">
                    <a:lnL w="0" cap="flat" cmpd="sng" algn="ctr">
                      <a:noFill/>
                    </a:lnL>
                    <a:lnR w="12700" cap="flat" cmpd="sng" algn="ctr">
                      <a:solidFill>
                        <a:srgbClr val="4B5668"/>
                      </a:solidFill>
                      <a:prstDash val="solid"/>
                      <a:round/>
                      <a:headEnd type="none" w="med" len="med"/>
                      <a:tailEnd type="none" w="med" len="med"/>
                    </a:lnR>
                    <a:lnT w="0" cap="flat" cmpd="sng" algn="ctr">
                      <a:noFill/>
                    </a:lnT>
                    <a:lnB w="12700" cap="flat" cmpd="sng" algn="ctr">
                      <a:solidFill>
                        <a:srgbClr val="4B5668"/>
                      </a:solidFill>
                      <a:prstDash val="solid"/>
                      <a:round/>
                      <a:headEnd type="none" w="med" len="med"/>
                      <a:tailEnd type="none" w="med" len="med"/>
                    </a:lnB>
                    <a:solidFill>
                      <a:srgbClr val="1A2840"/>
                    </a:solidFill>
                  </a:tcPr>
                </a:tc>
                <a:tc>
                  <a:txBody>
                    <a:bodyPr/>
                    <a:lstStyle/>
                    <a:p>
                      <a:pPr indent="0" marL="0">
                        <a:lnSpc>
                          <a:spcPts val="2240"/>
                        </a:lnSpc>
                        <a:buNone/>
                      </a:pPr>
                      <a:r>
                        <a:rPr lang="en-US" sz="1600" b="1" dirty="0">
                          <a:solidFill>
                            <a:srgbClr val="AEBBCB"/>
                          </a:solidFill>
                          <a:latin typeface="Arial" pitchFamily="34" charset="0"/>
                          <a:ea typeface="Arial" pitchFamily="34" charset="-122"/>
                          <a:cs typeface="Arial" pitchFamily="34" charset="-120"/>
                        </a:rPr>
                        <a:t>Làm thủ công</a:t>
                      </a:r>
                      <a:endParaRPr lang="en-US" sz="1600" dirty="0">
                        <a:latin typeface="Arial" charset="0"/>
                        <a:ea typeface="Arial" charset="0"/>
                        <a:cs typeface="Arial" charset="0"/>
                      </a:endParaRPr>
                    </a:p>
                  </a:txBody>
                  <a:tcPr marL="177800" marR="177800" marT="127000" marB="127000" anchor="t">
                    <a:lnL w="12700" cap="flat" cmpd="sng" algn="ctr">
                      <a:solidFill>
                        <a:srgbClr val="4B5668"/>
                      </a:solidFill>
                      <a:prstDash val="solid"/>
                      <a:round/>
                      <a:headEnd type="none" w="med" len="med"/>
                      <a:tailEnd type="none" w="med" len="med"/>
                    </a:lnL>
                    <a:lnR w="12700" cap="flat" cmpd="sng" algn="ctr">
                      <a:solidFill>
                        <a:srgbClr val="4B5668"/>
                      </a:solidFill>
                      <a:prstDash val="solid"/>
                      <a:round/>
                      <a:headEnd type="none" w="med" len="med"/>
                      <a:tailEnd type="none" w="med" len="med"/>
                    </a:lnR>
                    <a:lnT w="0" cap="flat" cmpd="sng" algn="ctr">
                      <a:noFill/>
                    </a:lnT>
                    <a:lnB w="12700" cap="flat" cmpd="sng" algn="ctr">
                      <a:solidFill>
                        <a:srgbClr val="4B5668"/>
                      </a:solidFill>
                      <a:prstDash val="solid"/>
                      <a:round/>
                      <a:headEnd type="none" w="med" len="med"/>
                      <a:tailEnd type="none" w="med" len="med"/>
                    </a:lnB>
                    <a:solidFill>
                      <a:srgbClr val="1A2840"/>
                    </a:solidFill>
                  </a:tcPr>
                </a:tc>
                <a:tc>
                  <a:txBody>
                    <a:bodyPr/>
                    <a:lstStyle/>
                    <a:p>
                      <a:pPr indent="0" marL="0">
                        <a:lnSpc>
                          <a:spcPts val="2240"/>
                        </a:lnSpc>
                        <a:buNone/>
                      </a:pPr>
                      <a:r>
                        <a:rPr lang="en-US" sz="1600" b="1" dirty="0">
                          <a:solidFill>
                            <a:srgbClr val="F5A524"/>
                          </a:solidFill>
                          <a:latin typeface="Arial" pitchFamily="34" charset="0"/>
                          <a:ea typeface="Arial" pitchFamily="34" charset="-122"/>
                          <a:cs typeface="Arial" pitchFamily="34" charset="-120"/>
                        </a:rPr>
                        <a:t>IncidentLens</a:t>
                      </a:r>
                      <a:endParaRPr lang="en-US" sz="1600" dirty="0">
                        <a:latin typeface="Arial" charset="0"/>
                        <a:ea typeface="Arial" charset="0"/>
                        <a:cs typeface="Arial" charset="0"/>
                      </a:endParaRPr>
                    </a:p>
                  </a:txBody>
                  <a:tcPr marL="177800" marR="177800" marT="127000" marB="127000" anchor="t">
                    <a:lnL w="12700" cap="flat" cmpd="sng" algn="ctr">
                      <a:solidFill>
                        <a:srgbClr val="4B5668"/>
                      </a:solidFill>
                      <a:prstDash val="solid"/>
                      <a:round/>
                      <a:headEnd type="none" w="med" len="med"/>
                      <a:tailEnd type="none" w="med" len="med"/>
                    </a:lnL>
                    <a:lnR w="12700" cap="flat" cmpd="sng" algn="ctr">
                      <a:solidFill>
                        <a:srgbClr val="4B5668"/>
                      </a:solidFill>
                      <a:prstDash val="solid"/>
                      <a:round/>
                      <a:headEnd type="none" w="med" len="med"/>
                      <a:tailEnd type="none" w="med" len="med"/>
                    </a:lnR>
                    <a:lnT w="0" cap="flat" cmpd="sng" algn="ctr">
                      <a:noFill/>
                    </a:lnT>
                    <a:lnB w="12700" cap="flat" cmpd="sng" algn="ctr">
                      <a:solidFill>
                        <a:srgbClr val="4B5668"/>
                      </a:solidFill>
                      <a:prstDash val="solid"/>
                      <a:round/>
                      <a:headEnd type="none" w="med" len="med"/>
                      <a:tailEnd type="none" w="med" len="med"/>
                    </a:lnB>
                    <a:solidFill>
                      <a:srgbClr val="1A2840"/>
                    </a:solidFill>
                  </a:tcPr>
                </a:tc>
              </a:tr>
              <a:tr h="548640">
                <a:tc>
                  <a:txBody>
                    <a:bodyPr/>
                    <a:lstStyle/>
                    <a:p>
                      <a:pPr indent="0" marL="0">
                        <a:lnSpc>
                          <a:spcPts val="2240"/>
                        </a:lnSpc>
                        <a:buNone/>
                      </a:pPr>
                      <a:r>
                        <a:rPr lang="en-US" sz="1600" dirty="0">
                          <a:solidFill>
                            <a:srgbClr val="EEF2F6"/>
                          </a:solidFill>
                          <a:latin typeface="Arial" pitchFamily="34" charset="0"/>
                          <a:ea typeface="Arial" pitchFamily="34" charset="-122"/>
                          <a:cs typeface="Arial" pitchFamily="34" charset="-120"/>
                        </a:rPr>
                        <a:t>Tìm mốc sự cố</a:t>
                      </a:r>
                      <a:endParaRPr lang="en-US" sz="1600" dirty="0">
                        <a:latin typeface="Arial" charset="0"/>
                        <a:ea typeface="Arial" charset="0"/>
                        <a:cs typeface="Arial" charset="0"/>
                      </a:endParaRPr>
                    </a:p>
                  </a:txBody>
                  <a:tcPr marL="177800" marR="177800" marT="127000" marB="127000" anchor="t">
                    <a:lnL w="0" cap="flat" cmpd="sng" algn="ctr">
                      <a:noFill/>
                    </a:lnL>
                    <a:lnR w="12700" cap="flat" cmpd="sng" algn="ctr">
                      <a:solidFill>
                        <a:srgbClr val="424954"/>
                      </a:solidFill>
                      <a:prstDash val="solid"/>
                      <a:round/>
                      <a:headEnd type="none" w="med" len="med"/>
                      <a:tailEnd type="none" w="med" len="med"/>
                    </a:lnR>
                    <a:lnT w="12700" cap="flat" cmpd="sng" algn="ctr">
                      <a:solidFill>
                        <a:srgbClr val="4B5668"/>
                      </a:solidFill>
                      <a:prstDash val="solid"/>
                      <a:round/>
                      <a:headEnd type="none" w="med" len="med"/>
                      <a:tailEnd type="none" w="med" len="med"/>
                    </a:lnT>
                    <a:lnB w="12700" cap="flat" cmpd="sng" algn="ctr">
                      <a:solidFill>
                        <a:srgbClr val="424954"/>
                      </a:solidFill>
                      <a:prstDash val="solid"/>
                      <a:round/>
                      <a:headEnd type="none" w="med" len="med"/>
                      <a:tailEnd type="none" w="med" len="med"/>
                    </a:lnB>
                  </a:tcPr>
                </a:tc>
                <a:tc>
                  <a:txBody>
                    <a:bodyPr/>
                    <a:lstStyle/>
                    <a:p>
                      <a:pPr indent="0" marL="0">
                        <a:lnSpc>
                          <a:spcPts val="2240"/>
                        </a:lnSpc>
                        <a:buNone/>
                      </a:pPr>
                      <a:r>
                        <a:rPr lang="en-US" sz="1600" dirty="0">
                          <a:solidFill>
                            <a:srgbClr val="AEBBCB"/>
                          </a:solidFill>
                          <a:latin typeface="Arial" pitchFamily="34" charset="0"/>
                          <a:ea typeface="Arial" pitchFamily="34" charset="-122"/>
                          <a:cs typeface="Arial" pitchFamily="34" charset="-120"/>
                        </a:rPr>
                        <a:t>Tua từng giây</a:t>
                      </a:r>
                      <a:endParaRPr lang="en-US" sz="1600" dirty="0">
                        <a:latin typeface="Arial" charset="0"/>
                        <a:ea typeface="Arial" charset="0"/>
                        <a:cs typeface="Arial" charset="0"/>
                      </a:endParaRPr>
                    </a:p>
                  </a:txBody>
                  <a:tcPr marL="177800" marR="177800" marT="127000" marB="127000" anchor="t">
                    <a:lnL w="12700" cap="flat" cmpd="sng" algn="ctr">
                      <a:solidFill>
                        <a:srgbClr val="424954"/>
                      </a:solidFill>
                      <a:prstDash val="solid"/>
                      <a:round/>
                      <a:headEnd type="none" w="med" len="med"/>
                      <a:tailEnd type="none" w="med" len="med"/>
                    </a:lnL>
                    <a:lnR w="12700" cap="flat" cmpd="sng" algn="ctr">
                      <a:solidFill>
                        <a:srgbClr val="424954"/>
                      </a:solidFill>
                      <a:prstDash val="solid"/>
                      <a:round/>
                      <a:headEnd type="none" w="med" len="med"/>
                      <a:tailEnd type="none" w="med" len="med"/>
                    </a:lnR>
                    <a:lnT w="12700" cap="flat" cmpd="sng" algn="ctr">
                      <a:solidFill>
                        <a:srgbClr val="4B5668"/>
                      </a:solidFill>
                      <a:prstDash val="solid"/>
                      <a:round/>
                      <a:headEnd type="none" w="med" len="med"/>
                      <a:tailEnd type="none" w="med" len="med"/>
                    </a:lnT>
                    <a:lnB w="12700" cap="flat" cmpd="sng" algn="ctr">
                      <a:solidFill>
                        <a:srgbClr val="424954"/>
                      </a:solidFill>
                      <a:prstDash val="solid"/>
                      <a:round/>
                      <a:headEnd type="none" w="med" len="med"/>
                      <a:tailEnd type="none" w="med" len="med"/>
                    </a:lnB>
                  </a:tcPr>
                </a:tc>
                <a:tc>
                  <a:txBody>
                    <a:bodyPr/>
                    <a:lstStyle/>
                    <a:p>
                      <a:pPr indent="0" marL="0">
                        <a:lnSpc>
                          <a:spcPts val="2240"/>
                        </a:lnSpc>
                        <a:buNone/>
                      </a:pPr>
                      <a:r>
                        <a:rPr lang="en-US" sz="1600" dirty="0">
                          <a:solidFill>
                            <a:srgbClr val="EEF2F6"/>
                          </a:solidFill>
                          <a:latin typeface="Arial" pitchFamily="34" charset="0"/>
                          <a:ea typeface="Arial" pitchFamily="34" charset="-122"/>
                          <a:cs typeface="Arial" pitchFamily="34" charset="-120"/>
                        </a:rPr>
                        <a:t>Trigger telemetry + VLM gợi ý</a:t>
                      </a:r>
                      <a:endParaRPr lang="en-US" sz="1600" dirty="0">
                        <a:latin typeface="Arial" charset="0"/>
                        <a:ea typeface="Arial" charset="0"/>
                        <a:cs typeface="Arial" charset="0"/>
                      </a:endParaRPr>
                    </a:p>
                  </a:txBody>
                  <a:tcPr marL="177800" marR="177800" marT="127000" marB="127000" anchor="t">
                    <a:lnL w="12700" cap="flat" cmpd="sng" algn="ctr">
                      <a:solidFill>
                        <a:srgbClr val="424954"/>
                      </a:solidFill>
                      <a:prstDash val="solid"/>
                      <a:round/>
                      <a:headEnd type="none" w="med" len="med"/>
                      <a:tailEnd type="none" w="med" len="med"/>
                    </a:lnL>
                    <a:lnR w="12700" cap="flat" cmpd="sng" algn="ctr">
                      <a:solidFill>
                        <a:srgbClr val="424954"/>
                      </a:solidFill>
                      <a:prstDash val="solid"/>
                      <a:round/>
                      <a:headEnd type="none" w="med" len="med"/>
                      <a:tailEnd type="none" w="med" len="med"/>
                    </a:lnR>
                    <a:lnT w="12700" cap="flat" cmpd="sng" algn="ctr">
                      <a:solidFill>
                        <a:srgbClr val="4B5668"/>
                      </a:solidFill>
                      <a:prstDash val="solid"/>
                      <a:round/>
                      <a:headEnd type="none" w="med" len="med"/>
                      <a:tailEnd type="none" w="med" len="med"/>
                    </a:lnT>
                    <a:lnB w="12700" cap="flat" cmpd="sng" algn="ctr">
                      <a:solidFill>
                        <a:srgbClr val="424954"/>
                      </a:solidFill>
                      <a:prstDash val="solid"/>
                      <a:round/>
                      <a:headEnd type="none" w="med" len="med"/>
                      <a:tailEnd type="none" w="med" len="med"/>
                    </a:lnB>
                  </a:tcPr>
                </a:tc>
              </a:tr>
              <a:tr h="548640">
                <a:tc>
                  <a:txBody>
                    <a:bodyPr/>
                    <a:lstStyle/>
                    <a:p>
                      <a:pPr indent="0" marL="0">
                        <a:lnSpc>
                          <a:spcPts val="2240"/>
                        </a:lnSpc>
                        <a:buNone/>
                      </a:pPr>
                      <a:r>
                        <a:rPr lang="en-US" sz="1600" dirty="0">
                          <a:solidFill>
                            <a:srgbClr val="EEF2F6"/>
                          </a:solidFill>
                          <a:latin typeface="Arial" pitchFamily="34" charset="0"/>
                          <a:ea typeface="Arial" pitchFamily="34" charset="-122"/>
                          <a:cs typeface="Arial" pitchFamily="34" charset="-120"/>
                        </a:rPr>
                        <a:t>Căn cứ kết luận</a:t>
                      </a:r>
                      <a:endParaRPr lang="en-US" sz="1600" dirty="0">
                        <a:latin typeface="Arial" charset="0"/>
                        <a:ea typeface="Arial" charset="0"/>
                        <a:cs typeface="Arial" charset="0"/>
                      </a:endParaRPr>
                    </a:p>
                  </a:txBody>
                  <a:tcPr marL="177800" marR="177800" marT="127000" marB="127000" anchor="t">
                    <a:lnL w="0" cap="flat" cmpd="sng" algn="ctr">
                      <a:noFill/>
                    </a:lnL>
                    <a:lnR w="12700" cap="flat" cmpd="sng" algn="ctr">
                      <a:solidFill>
                        <a:srgbClr val="424954"/>
                      </a:solidFill>
                      <a:prstDash val="solid"/>
                      <a:round/>
                      <a:headEnd type="none" w="med" len="med"/>
                      <a:tailEnd type="none" w="med" len="med"/>
                    </a:lnR>
                    <a:lnT w="12700" cap="flat" cmpd="sng" algn="ctr">
                      <a:solidFill>
                        <a:srgbClr val="424954"/>
                      </a:solidFill>
                      <a:prstDash val="solid"/>
                      <a:round/>
                      <a:headEnd type="none" w="med" len="med"/>
                      <a:tailEnd type="none" w="med" len="med"/>
                    </a:lnT>
                    <a:lnB w="12700" cap="flat" cmpd="sng" algn="ctr">
                      <a:solidFill>
                        <a:srgbClr val="424954"/>
                      </a:solidFill>
                      <a:prstDash val="solid"/>
                      <a:round/>
                      <a:headEnd type="none" w="med" len="med"/>
                      <a:tailEnd type="none" w="med" len="med"/>
                    </a:lnB>
                  </a:tcPr>
                </a:tc>
                <a:tc>
                  <a:txBody>
                    <a:bodyPr/>
                    <a:lstStyle/>
                    <a:p>
                      <a:pPr indent="0" marL="0">
                        <a:lnSpc>
                          <a:spcPts val="2240"/>
                        </a:lnSpc>
                        <a:buNone/>
                      </a:pPr>
                      <a:r>
                        <a:rPr lang="en-US" sz="1600" dirty="0">
                          <a:solidFill>
                            <a:srgbClr val="AEBBCB"/>
                          </a:solidFill>
                          <a:latin typeface="Arial" pitchFamily="34" charset="0"/>
                          <a:ea typeface="Arial" pitchFamily="34" charset="-122"/>
                          <a:cs typeface="Arial" pitchFamily="34" charset="-120"/>
                        </a:rPr>
                        <a:t>Trí nhớ người xem</a:t>
                      </a:r>
                      <a:endParaRPr lang="en-US" sz="1600" dirty="0">
                        <a:latin typeface="Arial" charset="0"/>
                        <a:ea typeface="Arial" charset="0"/>
                        <a:cs typeface="Arial" charset="0"/>
                      </a:endParaRPr>
                    </a:p>
                  </a:txBody>
                  <a:tcPr marL="177800" marR="177800" marT="127000" marB="127000" anchor="t">
                    <a:lnL w="12700" cap="flat" cmpd="sng" algn="ctr">
                      <a:solidFill>
                        <a:srgbClr val="424954"/>
                      </a:solidFill>
                      <a:prstDash val="solid"/>
                      <a:round/>
                      <a:headEnd type="none" w="med" len="med"/>
                      <a:tailEnd type="none" w="med" len="med"/>
                    </a:lnL>
                    <a:lnR w="12700" cap="flat" cmpd="sng" algn="ctr">
                      <a:solidFill>
                        <a:srgbClr val="424954"/>
                      </a:solidFill>
                      <a:prstDash val="solid"/>
                      <a:round/>
                      <a:headEnd type="none" w="med" len="med"/>
                      <a:tailEnd type="none" w="med" len="med"/>
                    </a:lnR>
                    <a:lnT w="12700" cap="flat" cmpd="sng" algn="ctr">
                      <a:solidFill>
                        <a:srgbClr val="424954"/>
                      </a:solidFill>
                      <a:prstDash val="solid"/>
                      <a:round/>
                      <a:headEnd type="none" w="med" len="med"/>
                      <a:tailEnd type="none" w="med" len="med"/>
                    </a:lnT>
                    <a:lnB w="12700" cap="flat" cmpd="sng" algn="ctr">
                      <a:solidFill>
                        <a:srgbClr val="424954"/>
                      </a:solidFill>
                      <a:prstDash val="solid"/>
                      <a:round/>
                      <a:headEnd type="none" w="med" len="med"/>
                      <a:tailEnd type="none" w="med" len="med"/>
                    </a:lnB>
                  </a:tcPr>
                </a:tc>
                <a:tc>
                  <a:txBody>
                    <a:bodyPr/>
                    <a:lstStyle/>
                    <a:p>
                      <a:pPr indent="0" marL="0">
                        <a:lnSpc>
                          <a:spcPts val="2240"/>
                        </a:lnSpc>
                        <a:buNone/>
                      </a:pPr>
                      <a:r>
                        <a:rPr lang="en-US" sz="1600" dirty="0">
                          <a:solidFill>
                            <a:srgbClr val="EEF2F6"/>
                          </a:solidFill>
                          <a:latin typeface="Arial" pitchFamily="34" charset="0"/>
                          <a:ea typeface="Arial" pitchFamily="34" charset="-122"/>
                          <a:cs typeface="Arial" pitchFamily="34" charset="-120"/>
                        </a:rPr>
                        <a:t>Evidence ID, có SHA-256</a:t>
                      </a:r>
                      <a:endParaRPr lang="en-US" sz="1600" dirty="0">
                        <a:latin typeface="Arial" charset="0"/>
                        <a:ea typeface="Arial" charset="0"/>
                        <a:cs typeface="Arial" charset="0"/>
                      </a:endParaRPr>
                    </a:p>
                  </a:txBody>
                  <a:tcPr marL="177800" marR="177800" marT="127000" marB="127000" anchor="t">
                    <a:lnL w="12700" cap="flat" cmpd="sng" algn="ctr">
                      <a:solidFill>
                        <a:srgbClr val="424954"/>
                      </a:solidFill>
                      <a:prstDash val="solid"/>
                      <a:round/>
                      <a:headEnd type="none" w="med" len="med"/>
                      <a:tailEnd type="none" w="med" len="med"/>
                    </a:lnL>
                    <a:lnR w="12700" cap="flat" cmpd="sng" algn="ctr">
                      <a:solidFill>
                        <a:srgbClr val="424954"/>
                      </a:solidFill>
                      <a:prstDash val="solid"/>
                      <a:round/>
                      <a:headEnd type="none" w="med" len="med"/>
                      <a:tailEnd type="none" w="med" len="med"/>
                    </a:lnR>
                    <a:lnT w="12700" cap="flat" cmpd="sng" algn="ctr">
                      <a:solidFill>
                        <a:srgbClr val="424954"/>
                      </a:solidFill>
                      <a:prstDash val="solid"/>
                      <a:round/>
                      <a:headEnd type="none" w="med" len="med"/>
                      <a:tailEnd type="none" w="med" len="med"/>
                    </a:lnT>
                    <a:lnB w="12700" cap="flat" cmpd="sng" algn="ctr">
                      <a:solidFill>
                        <a:srgbClr val="424954"/>
                      </a:solidFill>
                      <a:prstDash val="solid"/>
                      <a:round/>
                      <a:headEnd type="none" w="med" len="med"/>
                      <a:tailEnd type="none" w="med" len="med"/>
                    </a:lnB>
                  </a:tcPr>
                </a:tc>
              </a:tr>
              <a:tr h="548640">
                <a:tc>
                  <a:txBody>
                    <a:bodyPr/>
                    <a:lstStyle/>
                    <a:p>
                      <a:pPr indent="0" marL="0">
                        <a:lnSpc>
                          <a:spcPts val="2240"/>
                        </a:lnSpc>
                        <a:buNone/>
                      </a:pPr>
                      <a:r>
                        <a:rPr lang="en-US" sz="1600" dirty="0">
                          <a:solidFill>
                            <a:srgbClr val="EEF2F6"/>
                          </a:solidFill>
                          <a:latin typeface="Arial" pitchFamily="34" charset="0"/>
                          <a:ea typeface="Arial" pitchFamily="34" charset="-122"/>
                          <a:cs typeface="Arial" pitchFamily="34" charset="-120"/>
                        </a:rPr>
                        <a:t>Duyệt báo cáo</a:t>
                      </a:r>
                      <a:endParaRPr lang="en-US" sz="1600" dirty="0">
                        <a:latin typeface="Arial" charset="0"/>
                        <a:ea typeface="Arial" charset="0"/>
                        <a:cs typeface="Arial" charset="0"/>
                      </a:endParaRPr>
                    </a:p>
                  </a:txBody>
                  <a:tcPr marL="177800" marR="177800" marT="127000" marB="127000" anchor="t">
                    <a:lnL w="0" cap="flat" cmpd="sng" algn="ctr">
                      <a:noFill/>
                    </a:lnL>
                    <a:lnR w="12700" cap="flat" cmpd="sng" algn="ctr">
                      <a:solidFill>
                        <a:srgbClr val="424954"/>
                      </a:solidFill>
                      <a:prstDash val="solid"/>
                      <a:round/>
                      <a:headEnd type="none" w="med" len="med"/>
                      <a:tailEnd type="none" w="med" len="med"/>
                    </a:lnR>
                    <a:lnT w="12700" cap="flat" cmpd="sng" algn="ctr">
                      <a:solidFill>
                        <a:srgbClr val="424954"/>
                      </a:solidFill>
                      <a:prstDash val="solid"/>
                      <a:round/>
                      <a:headEnd type="none" w="med" len="med"/>
                      <a:tailEnd type="none" w="med" len="med"/>
                    </a:lnT>
                    <a:lnB w="12700" cap="flat" cmpd="sng" algn="ctr">
                      <a:solidFill>
                        <a:srgbClr val="424954"/>
                      </a:solidFill>
                      <a:prstDash val="solid"/>
                      <a:round/>
                      <a:headEnd type="none" w="med" len="med"/>
                      <a:tailEnd type="none" w="med" len="med"/>
                    </a:lnB>
                  </a:tcPr>
                </a:tc>
                <a:tc>
                  <a:txBody>
                    <a:bodyPr/>
                    <a:lstStyle/>
                    <a:p>
                      <a:pPr indent="0" marL="0">
                        <a:lnSpc>
                          <a:spcPts val="2240"/>
                        </a:lnSpc>
                        <a:buNone/>
                      </a:pPr>
                      <a:r>
                        <a:rPr lang="en-US" sz="1600" dirty="0">
                          <a:solidFill>
                            <a:srgbClr val="AEBBCB"/>
                          </a:solidFill>
                          <a:latin typeface="Arial" pitchFamily="34" charset="0"/>
                          <a:ea typeface="Arial" pitchFamily="34" charset="-122"/>
                          <a:cs typeface="Arial" pitchFamily="34" charset="-120"/>
                        </a:rPr>
                        <a:t>File rời, email</a:t>
                      </a:r>
                      <a:endParaRPr lang="en-US" sz="1600" dirty="0">
                        <a:latin typeface="Arial" charset="0"/>
                        <a:ea typeface="Arial" charset="0"/>
                        <a:cs typeface="Arial" charset="0"/>
                      </a:endParaRPr>
                    </a:p>
                  </a:txBody>
                  <a:tcPr marL="177800" marR="177800" marT="127000" marB="127000" anchor="t">
                    <a:lnL w="12700" cap="flat" cmpd="sng" algn="ctr">
                      <a:solidFill>
                        <a:srgbClr val="424954"/>
                      </a:solidFill>
                      <a:prstDash val="solid"/>
                      <a:round/>
                      <a:headEnd type="none" w="med" len="med"/>
                      <a:tailEnd type="none" w="med" len="med"/>
                    </a:lnL>
                    <a:lnR w="12700" cap="flat" cmpd="sng" algn="ctr">
                      <a:solidFill>
                        <a:srgbClr val="424954"/>
                      </a:solidFill>
                      <a:prstDash val="solid"/>
                      <a:round/>
                      <a:headEnd type="none" w="med" len="med"/>
                      <a:tailEnd type="none" w="med" len="med"/>
                    </a:lnR>
                    <a:lnT w="12700" cap="flat" cmpd="sng" algn="ctr">
                      <a:solidFill>
                        <a:srgbClr val="424954"/>
                      </a:solidFill>
                      <a:prstDash val="solid"/>
                      <a:round/>
                      <a:headEnd type="none" w="med" len="med"/>
                      <a:tailEnd type="none" w="med" len="med"/>
                    </a:lnT>
                    <a:lnB w="12700" cap="flat" cmpd="sng" algn="ctr">
                      <a:solidFill>
                        <a:srgbClr val="424954"/>
                      </a:solidFill>
                      <a:prstDash val="solid"/>
                      <a:round/>
                      <a:headEnd type="none" w="med" len="med"/>
                      <a:tailEnd type="none" w="med" len="med"/>
                    </a:lnB>
                  </a:tcPr>
                </a:tc>
                <a:tc>
                  <a:txBody>
                    <a:bodyPr/>
                    <a:lstStyle/>
                    <a:p>
                      <a:pPr indent="0" marL="0">
                        <a:lnSpc>
                          <a:spcPts val="2240"/>
                        </a:lnSpc>
                        <a:buNone/>
                      </a:pPr>
                      <a:r>
                        <a:rPr lang="en-US" sz="1600" dirty="0">
                          <a:solidFill>
                            <a:srgbClr val="EEF2F6"/>
                          </a:solidFill>
                          <a:latin typeface="Arial" pitchFamily="34" charset="0"/>
                          <a:ea typeface="Arial" pitchFamily="34" charset="-122"/>
                          <a:cs typeface="Arial" pitchFamily="34" charset="-120"/>
                        </a:rPr>
                        <a:t>Phiên bản, phân quyền, audit</a:t>
                      </a:r>
                      <a:endParaRPr lang="en-US" sz="1600" dirty="0">
                        <a:latin typeface="Arial" charset="0"/>
                        <a:ea typeface="Arial" charset="0"/>
                        <a:cs typeface="Arial" charset="0"/>
                      </a:endParaRPr>
                    </a:p>
                  </a:txBody>
                  <a:tcPr marL="177800" marR="177800" marT="127000" marB="127000" anchor="t">
                    <a:lnL w="12700" cap="flat" cmpd="sng" algn="ctr">
                      <a:solidFill>
                        <a:srgbClr val="424954"/>
                      </a:solidFill>
                      <a:prstDash val="solid"/>
                      <a:round/>
                      <a:headEnd type="none" w="med" len="med"/>
                      <a:tailEnd type="none" w="med" len="med"/>
                    </a:lnL>
                    <a:lnR w="12700" cap="flat" cmpd="sng" algn="ctr">
                      <a:solidFill>
                        <a:srgbClr val="424954"/>
                      </a:solidFill>
                      <a:prstDash val="solid"/>
                      <a:round/>
                      <a:headEnd type="none" w="med" len="med"/>
                      <a:tailEnd type="none" w="med" len="med"/>
                    </a:lnR>
                    <a:lnT w="12700" cap="flat" cmpd="sng" algn="ctr">
                      <a:solidFill>
                        <a:srgbClr val="424954"/>
                      </a:solidFill>
                      <a:prstDash val="solid"/>
                      <a:round/>
                      <a:headEnd type="none" w="med" len="med"/>
                      <a:tailEnd type="none" w="med" len="med"/>
                    </a:lnT>
                    <a:lnB w="12700" cap="flat" cmpd="sng" algn="ctr">
                      <a:solidFill>
                        <a:srgbClr val="424954"/>
                      </a:solidFill>
                      <a:prstDash val="solid"/>
                      <a:round/>
                      <a:headEnd type="none" w="med" len="med"/>
                      <a:tailEnd type="none" w="med" len="med"/>
                    </a:lnB>
                  </a:tcPr>
                </a:tc>
              </a:tr>
            </a:tbl>
          </a:graphicData>
        </a:graphic>
      </p:graphicFrame>
      <p:sp>
        <p:nvSpPr>
          <p:cNvPr id="7" name="Text 4"/>
          <p:cNvSpPr/>
          <p:nvPr/>
        </p:nvSpPr>
        <p:spPr>
          <a:xfrm>
            <a:off x="812800" y="520192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AEBBCB"/>
                </a:solidFill>
                <a:latin typeface="Arial" pitchFamily="34" charset="0"/>
                <a:ea typeface="Arial" pitchFamily="34" charset="-122"/>
                <a:cs typeface="Arial" pitchFamily="34" charset="-120"/>
              </a:rPr>
              <a:t>Khác biệt: </a:t>
            </a:r>
            <a:r>
              <a:rPr lang="en-US" sz="1600" dirty="0">
                <a:solidFill>
                  <a:srgbClr val="F5A524"/>
                </a:solidFill>
                <a:latin typeface="Arial" pitchFamily="34" charset="0"/>
                <a:ea typeface="Arial" pitchFamily="34" charset="-122"/>
                <a:cs typeface="Arial" pitchFamily="34" charset="-120"/>
              </a:rPr>
              <a:t>không có bằng chứng → không vào báo cáo.</a:t>
            </a:r>
            <a:endParaRPr lang="en-US" sz="1600" dirty="0"/>
          </a:p>
        </p:txBody>
      </p:sp>
      <p:sp>
        <p:nvSpPr>
          <p:cNvPr id="8" name="Text 5"/>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IncidentLens · Team P-076</a:t>
            </a:r>
            <a:endParaRPr lang="en-US" sz="1200" dirty="0"/>
          </a:p>
        </p:txBody>
      </p:sp>
      <p:sp>
        <p:nvSpPr>
          <p:cNvPr id="9" name="Text 6"/>
          <p:cNvSpPr/>
          <p:nvPr/>
        </p:nvSpPr>
        <p:spPr>
          <a:xfrm>
            <a:off x="9417050" y="6238241"/>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03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046"/>
          </a:xfrm>
          <a:prstGeom prst="rect">
            <a:avLst/>
          </a:prstGeom>
          <a:noFill/>
          <a:ln/>
        </p:spPr>
        <p:txBody>
          <a:bodyPr wrap="square" lIns="0" tIns="0" rIns="0" bIns="0" rtlCol="0" anchor="t">
            <a:normAutofit/>
          </a:bodyPr>
          <a:lstStyle/>
          <a:p>
            <a:pPr algn="l" indent="0" marL="0">
              <a:lnSpc>
                <a:spcPts val="1675"/>
              </a:lnSpc>
              <a:buNone/>
            </a:pPr>
            <a:r>
              <a:rPr lang="en-US" sz="1196" spc="200" kern="0" dirty="0">
                <a:solidFill>
                  <a:srgbClr val="F5A524"/>
                </a:solidFill>
                <a:latin typeface="Courier New" pitchFamily="49" charset="0"/>
                <a:ea typeface="Courier New" pitchFamily="49" charset="-122"/>
                <a:cs typeface="Courier New" pitchFamily="49" charset="-120"/>
              </a:rPr>
              <a:t>03 · SẢN PHẨM</a:t>
            </a:r>
            <a:endParaRPr lang="en-US" sz="1196" dirty="0"/>
          </a:p>
        </p:txBody>
      </p:sp>
      <p:sp>
        <p:nvSpPr>
          <p:cNvPr id="3" name="Text 1"/>
          <p:cNvSpPr/>
          <p:nvPr>
            <p:ph type="title"/>
          </p:nvPr>
        </p:nvSpPr>
        <p:spPr>
          <a:xfrm>
            <a:off x="812800" y="1228646"/>
            <a:ext cx="10883392" cy="549354"/>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EEF2F6"/>
                </a:solidFill>
                <a:latin typeface="Arial" pitchFamily="34" charset="0"/>
                <a:ea typeface="Arial" pitchFamily="34" charset="-122"/>
                <a:cs typeface="Arial" pitchFamily="34" charset="-120"/>
              </a:rPr>
              <a:t>Mọi thứ trên một màn hình</a:t>
            </a:r>
            <a:endParaRPr lang="en-US" sz="3600" dirty="0"/>
          </a:p>
        </p:txBody>
      </p:sp>
      <p:sp>
        <p:nvSpPr>
          <p:cNvPr id="4" name="Shape 2"/>
          <p:cNvSpPr/>
          <p:nvPr/>
        </p:nvSpPr>
        <p:spPr>
          <a:xfrm>
            <a:off x="812800" y="1955800"/>
            <a:ext cx="10566400" cy="2974261"/>
          </a:xfrm>
          <a:prstGeom prst="roundRect">
            <a:avLst>
              <a:gd name="adj" fmla="val 4270"/>
            </a:avLst>
          </a:prstGeom>
          <a:solidFill>
            <a:srgbClr val="0A111D"/>
          </a:solidFill>
          <a:ln/>
        </p:spPr>
      </p:sp>
      <p:pic>
        <p:nvPicPr>
          <p:cNvPr id="5" name="Image 0" descr="Workspace kiểm duyệt hồ sơ INC-63EB4A5673E7: video dashcam bên trái, tóm tắt phân tích và telemetry bên phải">    </p:cNvPr>
          <p:cNvPicPr>
            <a:picLocks noChangeAspect="1"/>
          </p:cNvPicPr>
          <p:nvPr/>
        </p:nvPicPr>
        <p:blipFill>
          <a:blip r:embed="rId1"/>
          <a:stretch>
            <a:fillRect/>
          </a:stretch>
        </p:blipFill>
        <p:spPr>
          <a:xfrm>
            <a:off x="2858533" y="1962150"/>
            <a:ext cx="6474934" cy="2961561"/>
          </a:xfrm>
          <a:prstGeom prst="rect">
            <a:avLst/>
          </a:prstGeom>
        </p:spPr>
      </p:pic>
      <p:sp>
        <p:nvSpPr>
          <p:cNvPr id="6" name="Shape 3"/>
          <p:cNvSpPr/>
          <p:nvPr/>
        </p:nvSpPr>
        <p:spPr>
          <a:xfrm>
            <a:off x="815975" y="1958975"/>
            <a:ext cx="10560050" cy="2967911"/>
          </a:xfrm>
          <a:prstGeom prst="roundRect">
            <a:avLst>
              <a:gd name="adj" fmla="val 4172"/>
            </a:avLst>
          </a:prstGeom>
          <a:noFill/>
          <a:ln w="6350">
            <a:solidFill>
              <a:srgbClr val="2A3A55"/>
            </a:solidFill>
            <a:prstDash val="solid"/>
          </a:ln>
        </p:spPr>
      </p:sp>
      <p:sp>
        <p:nvSpPr>
          <p:cNvPr id="7" name="Text 4"/>
          <p:cNvSpPr/>
          <p:nvPr/>
        </p:nvSpPr>
        <p:spPr>
          <a:xfrm>
            <a:off x="815975" y="5259626"/>
            <a:ext cx="2254250" cy="455930"/>
          </a:xfrm>
          <a:prstGeom prst="roundRect">
            <a:avLst>
              <a:gd name="adj" fmla="val 21588"/>
            </a:avLst>
          </a:prstGeom>
          <a:solidFill>
            <a:srgbClr val="1A2840"/>
          </a:solidFill>
          <a:ln w="6350">
            <a:solidFill>
              <a:srgbClr val="2A3A55"/>
            </a:solidFill>
            <a:prstDash val="solid"/>
          </a:ln>
        </p:spPr>
        <p:txBody>
          <a:bodyPr wrap="square" lIns="43969" tIns="74677" rIns="43969" bIns="49277" rtlCol="0" anchor="t">
            <a:normAutofit/>
          </a:bodyPr>
          <a:lstStyle/>
          <a:p>
            <a:pPr algn="ctr" indent="0" marL="0">
              <a:lnSpc>
                <a:spcPts val="1960"/>
              </a:lnSpc>
              <a:buNone/>
            </a:pPr>
            <a:r>
              <a:rPr lang="en-US" sz="1400" b="1" dirty="0">
                <a:solidFill>
                  <a:srgbClr val="EEF2F6"/>
                </a:solidFill>
                <a:latin typeface="Arial" pitchFamily="34" charset="0"/>
                <a:ea typeface="Arial" pitchFamily="34" charset="-122"/>
                <a:cs typeface="Arial" pitchFamily="34" charset="-120"/>
              </a:rPr>
              <a:t>1 · Tải MP4 + CSV</a:t>
            </a:r>
            <a:endParaRPr lang="en-US" sz="1400" dirty="0"/>
          </a:p>
        </p:txBody>
      </p:sp>
      <p:pic>
        <p:nvPicPr>
          <p:cNvPr id="8" name="Image 1" descr="connector">    </p:cNvPr>
          <p:cNvPicPr>
            <a:picLocks noChangeAspect="1"/>
          </p:cNvPicPr>
          <p:nvPr/>
        </p:nvPicPr>
        <p:blipFill>
          <a:blip r:embed="rId2"/>
          <a:srcRect l="0" r="0" t="0" b="0"/>
          <a:stretch/>
        </p:blipFill>
        <p:spPr>
          <a:xfrm>
            <a:off x="3175000" y="5449491"/>
            <a:ext cx="304800" cy="76200"/>
          </a:xfrm>
          <a:prstGeom prst="rect">
            <a:avLst/>
          </a:prstGeom>
        </p:spPr>
      </p:pic>
      <p:sp>
        <p:nvSpPr>
          <p:cNvPr id="9" name="Text 5"/>
          <p:cNvSpPr/>
          <p:nvPr/>
        </p:nvSpPr>
        <p:spPr>
          <a:xfrm>
            <a:off x="3584575" y="5259626"/>
            <a:ext cx="2254250" cy="455930"/>
          </a:xfrm>
          <a:prstGeom prst="roundRect">
            <a:avLst>
              <a:gd name="adj" fmla="val 21588"/>
            </a:avLst>
          </a:prstGeom>
          <a:solidFill>
            <a:srgbClr val="1A2840"/>
          </a:solidFill>
          <a:ln w="6350">
            <a:solidFill>
              <a:srgbClr val="2A3A55"/>
            </a:solidFill>
            <a:prstDash val="solid"/>
          </a:ln>
        </p:spPr>
        <p:txBody>
          <a:bodyPr wrap="square" lIns="43969" tIns="74677" rIns="43969" bIns="49277" rtlCol="0" anchor="t">
            <a:normAutofit/>
          </a:bodyPr>
          <a:lstStyle/>
          <a:p>
            <a:pPr algn="ctr" indent="0" marL="0">
              <a:lnSpc>
                <a:spcPts val="1960"/>
              </a:lnSpc>
              <a:buNone/>
            </a:pPr>
            <a:r>
              <a:rPr lang="en-US" sz="1400" b="1" dirty="0">
                <a:solidFill>
                  <a:srgbClr val="EEF2F6"/>
                </a:solidFill>
                <a:latin typeface="Arial" pitchFamily="34" charset="0"/>
                <a:ea typeface="Arial" pitchFamily="34" charset="-122"/>
                <a:cs typeface="Arial" pitchFamily="34" charset="-120"/>
              </a:rPr>
              <a:t>2 · AI phân tích</a:t>
            </a:r>
            <a:endParaRPr lang="en-US" sz="1400" dirty="0"/>
          </a:p>
        </p:txBody>
      </p:sp>
      <p:pic>
        <p:nvPicPr>
          <p:cNvPr id="10" name="Image 2" descr="connector">    </p:cNvPr>
          <p:cNvPicPr>
            <a:picLocks noChangeAspect="1"/>
          </p:cNvPicPr>
          <p:nvPr/>
        </p:nvPicPr>
        <p:blipFill>
          <a:blip r:embed="rId3"/>
          <a:srcRect l="0" r="0" t="0" b="0"/>
          <a:stretch/>
        </p:blipFill>
        <p:spPr>
          <a:xfrm>
            <a:off x="5943600" y="5449491"/>
            <a:ext cx="304800" cy="76200"/>
          </a:xfrm>
          <a:prstGeom prst="rect">
            <a:avLst/>
          </a:prstGeom>
        </p:spPr>
      </p:pic>
      <p:sp>
        <p:nvSpPr>
          <p:cNvPr id="11" name="Text 6"/>
          <p:cNvSpPr/>
          <p:nvPr/>
        </p:nvSpPr>
        <p:spPr>
          <a:xfrm>
            <a:off x="6353175" y="5135245"/>
            <a:ext cx="2254250" cy="704850"/>
          </a:xfrm>
          <a:prstGeom prst="roundRect">
            <a:avLst>
              <a:gd name="adj" fmla="val 13964"/>
            </a:avLst>
          </a:prstGeom>
          <a:solidFill>
            <a:srgbClr val="1A2840"/>
          </a:solidFill>
          <a:ln w="6350">
            <a:solidFill>
              <a:srgbClr val="2A3A55"/>
            </a:solidFill>
            <a:prstDash val="solid"/>
          </a:ln>
        </p:spPr>
        <p:txBody>
          <a:bodyPr wrap="square" lIns="43969" tIns="74677" rIns="43969" bIns="49277" rtlCol="0" anchor="t">
            <a:normAutofit/>
          </a:bodyPr>
          <a:lstStyle/>
          <a:p>
            <a:pPr algn="ctr" indent="0" marL="0">
              <a:lnSpc>
                <a:spcPts val="1960"/>
              </a:lnSpc>
              <a:buNone/>
            </a:pPr>
            <a:r>
              <a:rPr lang="en-US" sz="1400" b="1" dirty="0">
                <a:solidFill>
                  <a:srgbClr val="EEF2F6"/>
                </a:solidFill>
                <a:latin typeface="Arial" pitchFamily="34" charset="0"/>
                <a:ea typeface="Arial" pitchFamily="34" charset="-122"/>
                <a:cs typeface="Arial" pitchFamily="34" charset="-120"/>
              </a:rPr>
              <a:t>3 · Đối chiếu bằng chứng</a:t>
            </a:r>
            <a:endParaRPr lang="en-US" sz="1400" dirty="0"/>
          </a:p>
        </p:txBody>
      </p:sp>
      <p:pic>
        <p:nvPicPr>
          <p:cNvPr id="12" name="Image 3" descr="connector">    </p:cNvPr>
          <p:cNvPicPr>
            <a:picLocks noChangeAspect="1"/>
          </p:cNvPicPr>
          <p:nvPr/>
        </p:nvPicPr>
        <p:blipFill>
          <a:blip r:embed="rId4"/>
          <a:srcRect l="0" r="0" t="0" b="0"/>
          <a:stretch/>
        </p:blipFill>
        <p:spPr>
          <a:xfrm>
            <a:off x="8712200" y="5449491"/>
            <a:ext cx="304800" cy="76200"/>
          </a:xfrm>
          <a:prstGeom prst="rect">
            <a:avLst/>
          </a:prstGeom>
        </p:spPr>
      </p:pic>
      <p:sp>
        <p:nvSpPr>
          <p:cNvPr id="13" name="Text 7"/>
          <p:cNvSpPr/>
          <p:nvPr/>
        </p:nvSpPr>
        <p:spPr>
          <a:xfrm>
            <a:off x="9121775" y="5259626"/>
            <a:ext cx="2254250" cy="455930"/>
          </a:xfrm>
          <a:prstGeom prst="roundRect">
            <a:avLst>
              <a:gd name="adj" fmla="val 21588"/>
            </a:avLst>
          </a:prstGeom>
          <a:solidFill>
            <a:srgbClr val="1A2840"/>
          </a:solidFill>
          <a:ln w="6350">
            <a:solidFill>
              <a:srgbClr val="F5A524"/>
            </a:solidFill>
            <a:prstDash val="solid"/>
          </a:ln>
        </p:spPr>
        <p:txBody>
          <a:bodyPr wrap="square" lIns="43969" tIns="74677" rIns="43969" bIns="49277" rtlCol="0" anchor="t">
            <a:normAutofit/>
          </a:bodyPr>
          <a:lstStyle/>
          <a:p>
            <a:pPr algn="ctr" indent="0" marL="0">
              <a:lnSpc>
                <a:spcPts val="1960"/>
              </a:lnSpc>
              <a:buNone/>
            </a:pPr>
            <a:r>
              <a:rPr lang="en-US" sz="1400" b="1" dirty="0">
                <a:solidFill>
                  <a:srgbClr val="F5A524"/>
                </a:solidFill>
                <a:latin typeface="Arial" pitchFamily="34" charset="0"/>
                <a:ea typeface="Arial" pitchFamily="34" charset="-122"/>
                <a:cs typeface="Arial" pitchFamily="34" charset="-120"/>
              </a:rPr>
              <a:t>4 · Duyệt / từ chối</a:t>
            </a:r>
            <a:endParaRPr lang="en-US" sz="1400" dirty="0"/>
          </a:p>
        </p:txBody>
      </p:sp>
      <p:sp>
        <p:nvSpPr>
          <p:cNvPr id="14" name="Text 8"/>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IncidentLens · Team P-076</a:t>
            </a:r>
            <a:endParaRPr lang="en-US" sz="1200" dirty="0"/>
          </a:p>
        </p:txBody>
      </p:sp>
      <p:sp>
        <p:nvSpPr>
          <p:cNvPr id="15" name="Text 9"/>
          <p:cNvSpPr/>
          <p:nvPr/>
        </p:nvSpPr>
        <p:spPr>
          <a:xfrm>
            <a:off x="9417050" y="6238239"/>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04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1F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5A524"/>
                </a:solidFill>
                <a:latin typeface="Courier New" pitchFamily="49" charset="0"/>
                <a:ea typeface="Courier New" pitchFamily="49" charset="-122"/>
                <a:cs typeface="Courier New" pitchFamily="49" charset="-120"/>
              </a:rPr>
              <a:t>04 · KIẾN TRÚC</a:t>
            </a:r>
            <a:endParaRPr lang="en-US" sz="1200" dirty="0"/>
          </a:p>
        </p:txBody>
      </p:sp>
      <p:sp>
        <p:nvSpPr>
          <p:cNvPr id="3" name="Text 1"/>
          <p:cNvSpPr/>
          <p:nvPr>
            <p:ph type="title"/>
          </p:nvPr>
        </p:nvSpPr>
        <p:spPr>
          <a:xfrm>
            <a:off x="812800" y="1178561"/>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EEF2F6"/>
                </a:solidFill>
                <a:latin typeface="Arial" pitchFamily="34" charset="0"/>
                <a:ea typeface="Arial" pitchFamily="34" charset="-122"/>
                <a:cs typeface="Arial" pitchFamily="34" charset="-120"/>
              </a:rPr>
              <a:t>API nhẹ, model chạy riêng trên GPU</a:t>
            </a:r>
            <a:endParaRPr lang="en-US" sz="3600" dirty="0"/>
          </a:p>
        </p:txBody>
      </p:sp>
      <p:sp>
        <p:nvSpPr>
          <p:cNvPr id="4" name="Text 2"/>
          <p:cNvSpPr/>
          <p:nvPr/>
        </p:nvSpPr>
        <p:spPr>
          <a:xfrm>
            <a:off x="5543550" y="2038350"/>
            <a:ext cx="2273300" cy="3416300"/>
          </a:xfrm>
          <a:prstGeom prst="roundRect">
            <a:avLst>
              <a:gd name="adj" fmla="val 5307"/>
            </a:avLst>
          </a:prstGeom>
          <a:noFill/>
          <a:ln w="12700">
            <a:solidFill>
              <a:srgbClr val="F5A524"/>
            </a:solidFill>
            <a:prstDash val="dash"/>
          </a:ln>
        </p:spPr>
        <p:txBody>
          <a:bodyPr wrap="square" lIns="146273" tIns="70073" rIns="88970" bIns="70073" rtlCol="0" anchor="t">
            <a:normAutofit/>
          </a:bodyPr>
          <a:lstStyle/>
          <a:p>
            <a:pPr algn="l" indent="0" marL="0">
              <a:lnSpc>
                <a:spcPts val="1680"/>
              </a:lnSpc>
              <a:buNone/>
            </a:pPr>
            <a:r>
              <a:rPr lang="en-US" sz="1200" dirty="0">
                <a:solidFill>
                  <a:srgbClr val="F5A524"/>
                </a:solidFill>
                <a:latin typeface="Courier New" pitchFamily="49" charset="0"/>
                <a:ea typeface="Courier New" pitchFamily="49" charset="-122"/>
                <a:cs typeface="Courier New" pitchFamily="49" charset="-120"/>
              </a:rPr>
              <a:t>VAST.AI · GPU</a:t>
            </a:r>
            <a:endParaRPr lang="en-US" sz="1200" dirty="0"/>
          </a:p>
        </p:txBody>
      </p:sp>
      <p:sp>
        <p:nvSpPr>
          <p:cNvPr id="5" name="Shape 3"/>
          <p:cNvSpPr/>
          <p:nvPr/>
        </p:nvSpPr>
        <p:spPr>
          <a:xfrm>
            <a:off x="815975" y="2378075"/>
            <a:ext cx="1898650" cy="882650"/>
          </a:xfrm>
          <a:prstGeom prst="roundRect">
            <a:avLst>
              <a:gd name="adj" fmla="val 11151"/>
            </a:avLst>
          </a:prstGeom>
          <a:solidFill>
            <a:srgbClr val="1A2840"/>
          </a:solidFill>
          <a:ln w="6350">
            <a:solidFill>
              <a:srgbClr val="2A3A55"/>
            </a:solidFill>
            <a:prstDash val="solid"/>
          </a:ln>
        </p:spPr>
      </p:sp>
      <p:sp>
        <p:nvSpPr>
          <p:cNvPr id="6" name="Text 4"/>
          <p:cNvSpPr/>
          <p:nvPr/>
        </p:nvSpPr>
        <p:spPr>
          <a:xfrm>
            <a:off x="970280" y="2532382"/>
            <a:ext cx="16408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VERCEL</a:t>
            </a:r>
            <a:endParaRPr lang="en-US" sz="1200" dirty="0"/>
          </a:p>
        </p:txBody>
      </p:sp>
      <p:sp>
        <p:nvSpPr>
          <p:cNvPr id="7" name="Text 5"/>
          <p:cNvSpPr/>
          <p:nvPr/>
        </p:nvSpPr>
        <p:spPr>
          <a:xfrm>
            <a:off x="970280" y="2771139"/>
            <a:ext cx="16408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2F6"/>
                </a:solidFill>
                <a:latin typeface="Arial" pitchFamily="34" charset="0"/>
                <a:ea typeface="Arial" pitchFamily="34" charset="-122"/>
                <a:cs typeface="Arial" pitchFamily="34" charset="-120"/>
              </a:rPr>
              <a:t>Next.js 14</a:t>
            </a:r>
            <a:endParaRPr lang="en-US" sz="1600" dirty="0"/>
          </a:p>
        </p:txBody>
      </p:sp>
      <p:sp>
        <p:nvSpPr>
          <p:cNvPr id="8" name="Shape 6"/>
          <p:cNvSpPr/>
          <p:nvPr/>
        </p:nvSpPr>
        <p:spPr>
          <a:xfrm>
            <a:off x="3178175" y="2378075"/>
            <a:ext cx="1898650" cy="882650"/>
          </a:xfrm>
          <a:prstGeom prst="roundRect">
            <a:avLst>
              <a:gd name="adj" fmla="val 11151"/>
            </a:avLst>
          </a:prstGeom>
          <a:solidFill>
            <a:srgbClr val="1A2840"/>
          </a:solidFill>
          <a:ln w="6350">
            <a:solidFill>
              <a:srgbClr val="2A3A55"/>
            </a:solidFill>
            <a:prstDash val="solid"/>
          </a:ln>
        </p:spPr>
      </p:sp>
      <p:sp>
        <p:nvSpPr>
          <p:cNvPr id="9" name="Text 7"/>
          <p:cNvSpPr/>
          <p:nvPr/>
        </p:nvSpPr>
        <p:spPr>
          <a:xfrm>
            <a:off x="3332480" y="2532382"/>
            <a:ext cx="16408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RENDER</a:t>
            </a:r>
            <a:endParaRPr lang="en-US" sz="1200" dirty="0"/>
          </a:p>
        </p:txBody>
      </p:sp>
      <p:sp>
        <p:nvSpPr>
          <p:cNvPr id="10" name="Text 8"/>
          <p:cNvSpPr/>
          <p:nvPr/>
        </p:nvSpPr>
        <p:spPr>
          <a:xfrm>
            <a:off x="3332480" y="2771139"/>
            <a:ext cx="16408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2F6"/>
                </a:solidFill>
                <a:latin typeface="Arial" pitchFamily="34" charset="0"/>
                <a:ea typeface="Arial" pitchFamily="34" charset="-122"/>
                <a:cs typeface="Arial" pitchFamily="34" charset="-120"/>
              </a:rPr>
              <a:t>FastAPI</a:t>
            </a:r>
            <a:endParaRPr lang="en-US" sz="1600" dirty="0"/>
          </a:p>
        </p:txBody>
      </p:sp>
      <p:sp>
        <p:nvSpPr>
          <p:cNvPr id="11" name="Shape 9"/>
          <p:cNvSpPr/>
          <p:nvPr/>
        </p:nvSpPr>
        <p:spPr>
          <a:xfrm>
            <a:off x="3178175" y="4067175"/>
            <a:ext cx="1898650" cy="882650"/>
          </a:xfrm>
          <a:prstGeom prst="roundRect">
            <a:avLst>
              <a:gd name="adj" fmla="val 11151"/>
            </a:avLst>
          </a:prstGeom>
          <a:solidFill>
            <a:srgbClr val="1A2840"/>
          </a:solidFill>
          <a:ln w="6350">
            <a:solidFill>
              <a:srgbClr val="2A3A55"/>
            </a:solidFill>
            <a:prstDash val="solid"/>
          </a:ln>
        </p:spPr>
      </p:sp>
      <p:sp>
        <p:nvSpPr>
          <p:cNvPr id="12" name="Text 10"/>
          <p:cNvSpPr/>
          <p:nvPr/>
        </p:nvSpPr>
        <p:spPr>
          <a:xfrm>
            <a:off x="3332480" y="4221482"/>
            <a:ext cx="16408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NEON</a:t>
            </a:r>
            <a:endParaRPr lang="en-US" sz="1200" dirty="0"/>
          </a:p>
        </p:txBody>
      </p:sp>
      <p:sp>
        <p:nvSpPr>
          <p:cNvPr id="13" name="Text 11"/>
          <p:cNvSpPr/>
          <p:nvPr/>
        </p:nvSpPr>
        <p:spPr>
          <a:xfrm>
            <a:off x="3332480" y="4460239"/>
            <a:ext cx="16408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2F6"/>
                </a:solidFill>
                <a:latin typeface="Arial" pitchFamily="34" charset="0"/>
                <a:ea typeface="Arial" pitchFamily="34" charset="-122"/>
                <a:cs typeface="Arial" pitchFamily="34" charset="-120"/>
              </a:rPr>
              <a:t>PostgreSQL</a:t>
            </a:r>
            <a:endParaRPr lang="en-US" sz="1600" dirty="0"/>
          </a:p>
        </p:txBody>
      </p:sp>
      <p:sp>
        <p:nvSpPr>
          <p:cNvPr id="14" name="Shape 12"/>
          <p:cNvSpPr/>
          <p:nvPr/>
        </p:nvSpPr>
        <p:spPr>
          <a:xfrm>
            <a:off x="5730875" y="2441575"/>
            <a:ext cx="1898650" cy="755650"/>
          </a:xfrm>
          <a:prstGeom prst="roundRect">
            <a:avLst>
              <a:gd name="adj" fmla="val 13025"/>
            </a:avLst>
          </a:prstGeom>
          <a:solidFill>
            <a:srgbClr val="1A2840"/>
          </a:solidFill>
          <a:ln w="6350">
            <a:solidFill>
              <a:srgbClr val="2A3A55"/>
            </a:solidFill>
            <a:prstDash val="solid"/>
          </a:ln>
        </p:spPr>
      </p:sp>
      <p:sp>
        <p:nvSpPr>
          <p:cNvPr id="15" name="Text 13"/>
          <p:cNvSpPr/>
          <p:nvPr/>
        </p:nvSpPr>
        <p:spPr>
          <a:xfrm>
            <a:off x="5885180" y="2545082"/>
            <a:ext cx="16408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PRIVATE API</a:t>
            </a:r>
            <a:endParaRPr lang="en-US" sz="1200" dirty="0"/>
          </a:p>
        </p:txBody>
      </p:sp>
      <p:sp>
        <p:nvSpPr>
          <p:cNvPr id="16" name="Text 14"/>
          <p:cNvSpPr/>
          <p:nvPr/>
        </p:nvSpPr>
        <p:spPr>
          <a:xfrm>
            <a:off x="5885180" y="2783839"/>
            <a:ext cx="16408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2F6"/>
                </a:solidFill>
                <a:latin typeface="Arial" pitchFamily="34" charset="0"/>
                <a:ea typeface="Arial" pitchFamily="34" charset="-122"/>
                <a:cs typeface="Arial" pitchFamily="34" charset="-120"/>
              </a:rPr>
              <a:t>Media</a:t>
            </a:r>
            <a:endParaRPr lang="en-US" sz="1600" dirty="0"/>
          </a:p>
        </p:txBody>
      </p:sp>
      <p:sp>
        <p:nvSpPr>
          <p:cNvPr id="17" name="Shape 15"/>
          <p:cNvSpPr/>
          <p:nvPr/>
        </p:nvSpPr>
        <p:spPr>
          <a:xfrm>
            <a:off x="5730875" y="3457575"/>
            <a:ext cx="1898650" cy="755650"/>
          </a:xfrm>
          <a:prstGeom prst="roundRect">
            <a:avLst>
              <a:gd name="adj" fmla="val 13025"/>
            </a:avLst>
          </a:prstGeom>
          <a:solidFill>
            <a:srgbClr val="1A2840"/>
          </a:solidFill>
          <a:ln w="6350">
            <a:solidFill>
              <a:srgbClr val="2A3A55"/>
            </a:solidFill>
            <a:prstDash val="solid"/>
          </a:ln>
        </p:spPr>
      </p:sp>
      <p:sp>
        <p:nvSpPr>
          <p:cNvPr id="18" name="Text 16"/>
          <p:cNvSpPr/>
          <p:nvPr/>
        </p:nvSpPr>
        <p:spPr>
          <a:xfrm>
            <a:off x="5885180" y="3561082"/>
            <a:ext cx="16408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FFMPEG</a:t>
            </a:r>
            <a:endParaRPr lang="en-US" sz="1200" dirty="0"/>
          </a:p>
        </p:txBody>
      </p:sp>
      <p:sp>
        <p:nvSpPr>
          <p:cNvPr id="19" name="Text 17"/>
          <p:cNvSpPr/>
          <p:nvPr/>
        </p:nvSpPr>
        <p:spPr>
          <a:xfrm>
            <a:off x="5885180" y="3799839"/>
            <a:ext cx="16408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2F6"/>
                </a:solidFill>
                <a:latin typeface="Arial" pitchFamily="34" charset="0"/>
                <a:ea typeface="Arial" pitchFamily="34" charset="-122"/>
                <a:cs typeface="Arial" pitchFamily="34" charset="-120"/>
              </a:rPr>
              <a:t>Worker</a:t>
            </a:r>
            <a:endParaRPr lang="en-US" sz="1600" dirty="0"/>
          </a:p>
        </p:txBody>
      </p:sp>
      <p:sp>
        <p:nvSpPr>
          <p:cNvPr id="20" name="Shape 18"/>
          <p:cNvSpPr/>
          <p:nvPr/>
        </p:nvSpPr>
        <p:spPr>
          <a:xfrm>
            <a:off x="5730875" y="4473575"/>
            <a:ext cx="1898650" cy="755650"/>
          </a:xfrm>
          <a:prstGeom prst="roundRect">
            <a:avLst>
              <a:gd name="adj" fmla="val 13025"/>
            </a:avLst>
          </a:prstGeom>
          <a:solidFill>
            <a:srgbClr val="2B2412"/>
          </a:solidFill>
          <a:ln w="6350">
            <a:solidFill>
              <a:srgbClr val="F5A524"/>
            </a:solidFill>
            <a:prstDash val="solid"/>
          </a:ln>
        </p:spPr>
      </p:sp>
      <p:sp>
        <p:nvSpPr>
          <p:cNvPr id="21" name="Text 19"/>
          <p:cNvSpPr/>
          <p:nvPr/>
        </p:nvSpPr>
        <p:spPr>
          <a:xfrm>
            <a:off x="5885180" y="4577082"/>
            <a:ext cx="16408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A524"/>
                </a:solidFill>
                <a:latin typeface="Courier New" pitchFamily="49" charset="0"/>
                <a:ea typeface="Courier New" pitchFamily="49" charset="-122"/>
                <a:cs typeface="Courier New" pitchFamily="49" charset="-120"/>
              </a:rPr>
              <a:t>OLLAMA</a:t>
            </a:r>
            <a:endParaRPr lang="en-US" sz="1200" dirty="0"/>
          </a:p>
        </p:txBody>
      </p:sp>
      <p:sp>
        <p:nvSpPr>
          <p:cNvPr id="22" name="Text 20"/>
          <p:cNvSpPr/>
          <p:nvPr/>
        </p:nvSpPr>
        <p:spPr>
          <a:xfrm>
            <a:off x="5885180" y="4815839"/>
            <a:ext cx="16408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2F6"/>
                </a:solidFill>
                <a:latin typeface="Arial" pitchFamily="34" charset="0"/>
                <a:ea typeface="Arial" pitchFamily="34" charset="-122"/>
                <a:cs typeface="Arial" pitchFamily="34" charset="-120"/>
              </a:rPr>
              <a:t>Qwen3.5 9B</a:t>
            </a:r>
            <a:endParaRPr lang="en-US" sz="1600" dirty="0"/>
          </a:p>
        </p:txBody>
      </p:sp>
      <p:pic>
        <p:nvPicPr>
          <p:cNvPr id="23" name="Image 0" descr="connector">    </p:cNvPr>
          <p:cNvPicPr>
            <a:picLocks noChangeAspect="1"/>
          </p:cNvPicPr>
          <p:nvPr/>
        </p:nvPicPr>
        <p:blipFill>
          <a:blip r:embed="rId1"/>
          <a:srcRect l="0" r="0" t="0" b="0"/>
          <a:stretch/>
        </p:blipFill>
        <p:spPr>
          <a:xfrm>
            <a:off x="2667000" y="2768600"/>
            <a:ext cx="558800" cy="101600"/>
          </a:xfrm>
          <a:prstGeom prst="rect">
            <a:avLst/>
          </a:prstGeom>
        </p:spPr>
      </p:pic>
      <p:pic>
        <p:nvPicPr>
          <p:cNvPr id="24" name="Image 1" descr="connector">    </p:cNvPr>
          <p:cNvPicPr>
            <a:picLocks noChangeAspect="1"/>
          </p:cNvPicPr>
          <p:nvPr/>
        </p:nvPicPr>
        <p:blipFill>
          <a:blip r:embed="rId2"/>
          <a:srcRect l="0" r="0" t="0" b="0"/>
          <a:stretch/>
        </p:blipFill>
        <p:spPr>
          <a:xfrm>
            <a:off x="5029200" y="2768600"/>
            <a:ext cx="749300" cy="101600"/>
          </a:xfrm>
          <a:prstGeom prst="rect">
            <a:avLst/>
          </a:prstGeom>
        </p:spPr>
      </p:pic>
      <p:sp>
        <p:nvSpPr>
          <p:cNvPr id="25" name="Text 21"/>
          <p:cNvSpPr/>
          <p:nvPr/>
        </p:nvSpPr>
        <p:spPr>
          <a:xfrm>
            <a:off x="5130800" y="2489200"/>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EBBCB"/>
                </a:solidFill>
                <a:latin typeface="Courier New" pitchFamily="49" charset="0"/>
                <a:ea typeface="Courier New" pitchFamily="49" charset="-122"/>
                <a:cs typeface="Courier New" pitchFamily="49" charset="-120"/>
              </a:rPr>
              <a:t>SSH</a:t>
            </a:r>
            <a:endParaRPr lang="en-US" sz="1200" dirty="0"/>
          </a:p>
        </p:txBody>
      </p:sp>
      <p:pic>
        <p:nvPicPr>
          <p:cNvPr id="26" name="Image 2" descr="connector">    </p:cNvPr>
          <p:cNvPicPr>
            <a:picLocks noChangeAspect="1"/>
          </p:cNvPicPr>
          <p:nvPr/>
        </p:nvPicPr>
        <p:blipFill>
          <a:blip r:embed="rId3"/>
          <a:srcRect l="0" r="0" t="0" b="0"/>
          <a:stretch/>
        </p:blipFill>
        <p:spPr>
          <a:xfrm>
            <a:off x="4076700" y="3213100"/>
            <a:ext cx="101600" cy="901700"/>
          </a:xfrm>
          <a:prstGeom prst="rect">
            <a:avLst/>
          </a:prstGeom>
        </p:spPr>
      </p:pic>
      <p:pic>
        <p:nvPicPr>
          <p:cNvPr id="27" name="Image 3" descr="connector">    </p:cNvPr>
          <p:cNvPicPr>
            <a:picLocks noChangeAspect="1"/>
          </p:cNvPicPr>
          <p:nvPr/>
        </p:nvPicPr>
        <p:blipFill>
          <a:blip r:embed="rId4"/>
          <a:srcRect l="0" r="0" t="0" b="0"/>
          <a:stretch/>
        </p:blipFill>
        <p:spPr>
          <a:xfrm>
            <a:off x="6629400" y="3149600"/>
            <a:ext cx="101600" cy="355600"/>
          </a:xfrm>
          <a:prstGeom prst="rect">
            <a:avLst/>
          </a:prstGeom>
        </p:spPr>
      </p:pic>
      <p:pic>
        <p:nvPicPr>
          <p:cNvPr id="28" name="Image 4" descr="connector">    </p:cNvPr>
          <p:cNvPicPr>
            <a:picLocks noChangeAspect="1"/>
          </p:cNvPicPr>
          <p:nvPr/>
        </p:nvPicPr>
        <p:blipFill>
          <a:blip r:embed="rId5"/>
          <a:srcRect l="0" r="0" t="0" b="0"/>
          <a:stretch/>
        </p:blipFill>
        <p:spPr>
          <a:xfrm>
            <a:off x="6629400" y="4165600"/>
            <a:ext cx="101600" cy="355600"/>
          </a:xfrm>
          <a:prstGeom prst="rect">
            <a:avLst/>
          </a:prstGeom>
        </p:spPr>
      </p:pic>
      <p:pic>
        <p:nvPicPr>
          <p:cNvPr id="29" name="Image 5" descr="connector">    </p:cNvPr>
          <p:cNvPicPr>
            <a:picLocks noChangeAspect="1"/>
          </p:cNvPicPr>
          <p:nvPr/>
        </p:nvPicPr>
        <p:blipFill>
          <a:blip r:embed="rId6"/>
          <a:srcRect l="0" r="0" t="0" b="0"/>
          <a:stretch/>
        </p:blipFill>
        <p:spPr>
          <a:xfrm>
            <a:off x="5029200" y="3886200"/>
            <a:ext cx="749300" cy="673100"/>
          </a:xfrm>
          <a:prstGeom prst="rect">
            <a:avLst/>
          </a:prstGeom>
        </p:spPr>
      </p:pic>
      <p:sp>
        <p:nvSpPr>
          <p:cNvPr id="30" name="Text 22"/>
          <p:cNvSpPr/>
          <p:nvPr/>
        </p:nvSpPr>
        <p:spPr>
          <a:xfrm>
            <a:off x="8229600" y="2032000"/>
            <a:ext cx="324408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5A524"/>
                </a:solidFill>
                <a:latin typeface="Courier New" pitchFamily="49" charset="0"/>
                <a:ea typeface="Courier New" pitchFamily="49" charset="-122"/>
                <a:cs typeface="Courier New" pitchFamily="49" charset="-120"/>
              </a:rPr>
              <a:t>VÌ SAO CHỌN?</a:t>
            </a:r>
            <a:endParaRPr lang="en-US" sz="1200" dirty="0"/>
          </a:p>
        </p:txBody>
      </p:sp>
      <p:sp>
        <p:nvSpPr>
          <p:cNvPr id="31" name="Text 23"/>
          <p:cNvSpPr/>
          <p:nvPr/>
        </p:nvSpPr>
        <p:spPr>
          <a:xfrm>
            <a:off x="8229600" y="2423161"/>
            <a:ext cx="324408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2F6"/>
                </a:solidFill>
                <a:latin typeface="Arial" pitchFamily="34" charset="0"/>
                <a:ea typeface="Arial" pitchFamily="34" charset="-122"/>
                <a:cs typeface="Arial" pitchFamily="34" charset="-120"/>
              </a:rPr>
              <a:t>Queue trong Postgres</a:t>
            </a:r>
            <a:endParaRPr lang="en-US" sz="1600" dirty="0"/>
          </a:p>
        </p:txBody>
      </p:sp>
      <p:sp>
        <p:nvSpPr>
          <p:cNvPr id="32" name="Text 24"/>
          <p:cNvSpPr/>
          <p:nvPr/>
        </p:nvSpPr>
        <p:spPr>
          <a:xfrm>
            <a:off x="8229600" y="2692400"/>
            <a:ext cx="32440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BCB"/>
                </a:solidFill>
                <a:latin typeface="Arial" pitchFamily="34" charset="0"/>
                <a:ea typeface="Arial" pitchFamily="34" charset="-122"/>
                <a:cs typeface="Arial" pitchFamily="34" charset="-120"/>
              </a:rPr>
              <a:t>Job bền vững, không cần thêm Redis</a:t>
            </a:r>
            <a:endParaRPr lang="en-US" sz="1200" dirty="0"/>
          </a:p>
        </p:txBody>
      </p:sp>
      <p:sp>
        <p:nvSpPr>
          <p:cNvPr id="33" name="Text 25"/>
          <p:cNvSpPr/>
          <p:nvPr/>
        </p:nvSpPr>
        <p:spPr>
          <a:xfrm>
            <a:off x="8229600" y="3083561"/>
            <a:ext cx="324408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2F6"/>
                </a:solidFill>
                <a:latin typeface="Arial" pitchFamily="34" charset="0"/>
                <a:ea typeface="Arial" pitchFamily="34" charset="-122"/>
                <a:cs typeface="Arial" pitchFamily="34" charset="-120"/>
              </a:rPr>
              <a:t>Qwen tự host</a:t>
            </a:r>
            <a:endParaRPr lang="en-US" sz="1600" dirty="0"/>
          </a:p>
        </p:txBody>
      </p:sp>
      <p:sp>
        <p:nvSpPr>
          <p:cNvPr id="34" name="Text 26"/>
          <p:cNvSpPr/>
          <p:nvPr/>
        </p:nvSpPr>
        <p:spPr>
          <a:xfrm>
            <a:off x="8229600" y="3352800"/>
            <a:ext cx="32440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BCB"/>
                </a:solidFill>
                <a:latin typeface="Arial" pitchFamily="34" charset="0"/>
                <a:ea typeface="Arial" pitchFamily="34" charset="-122"/>
                <a:cs typeface="Arial" pitchFamily="34" charset="-120"/>
              </a:rPr>
              <a:t>Video không gửi ra API bên ngoài</a:t>
            </a:r>
            <a:endParaRPr lang="en-US" sz="1200" dirty="0"/>
          </a:p>
        </p:txBody>
      </p:sp>
      <p:sp>
        <p:nvSpPr>
          <p:cNvPr id="35" name="Text 27"/>
          <p:cNvSpPr/>
          <p:nvPr/>
        </p:nvSpPr>
        <p:spPr>
          <a:xfrm>
            <a:off x="8229600" y="3743961"/>
            <a:ext cx="324408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EF2F6"/>
                </a:solidFill>
                <a:latin typeface="Arial" pitchFamily="34" charset="0"/>
                <a:ea typeface="Arial" pitchFamily="34" charset="-122"/>
                <a:cs typeface="Arial" pitchFamily="34" charset="-120"/>
              </a:rPr>
              <a:t>GPU tách khỏi API</a:t>
            </a:r>
            <a:endParaRPr lang="en-US" sz="1600" dirty="0"/>
          </a:p>
        </p:txBody>
      </p:sp>
      <p:sp>
        <p:nvSpPr>
          <p:cNvPr id="36" name="Text 28"/>
          <p:cNvSpPr/>
          <p:nvPr/>
        </p:nvSpPr>
        <p:spPr>
          <a:xfrm>
            <a:off x="8229600" y="4013200"/>
            <a:ext cx="32440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BCB"/>
                </a:solidFill>
                <a:latin typeface="Arial" pitchFamily="34" charset="0"/>
                <a:ea typeface="Arial" pitchFamily="34" charset="-122"/>
                <a:cs typeface="Arial" pitchFamily="34" charset="-120"/>
              </a:rPr>
              <a:t>API không cần GPU; worker giữ model</a:t>
            </a:r>
            <a:endParaRPr lang="en-US" sz="1200" dirty="0"/>
          </a:p>
        </p:txBody>
      </p:sp>
      <p:sp>
        <p:nvSpPr>
          <p:cNvPr id="37" name="Shape 29"/>
          <p:cNvSpPr/>
          <p:nvPr/>
        </p:nvSpPr>
        <p:spPr>
          <a:xfrm>
            <a:off x="8229600" y="4407536"/>
            <a:ext cx="3149600" cy="0"/>
          </a:xfrm>
          <a:prstGeom prst="line">
            <a:avLst/>
          </a:prstGeom>
          <a:noFill/>
          <a:ln w="6350">
            <a:solidFill>
              <a:srgbClr val="2A3A55"/>
            </a:solidFill>
            <a:prstDash val="solid"/>
          </a:ln>
        </p:spPr>
      </p:sp>
      <p:sp>
        <p:nvSpPr>
          <p:cNvPr id="38" name="Text 30"/>
          <p:cNvSpPr/>
          <p:nvPr/>
        </p:nvSpPr>
        <p:spPr>
          <a:xfrm>
            <a:off x="8229600" y="4536441"/>
            <a:ext cx="324408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Arial" pitchFamily="34" charset="0"/>
                <a:ea typeface="Arial" pitchFamily="34" charset="-122"/>
                <a:cs typeface="Arial" pitchFamily="34" charset="-120"/>
              </a:rPr>
              <a:t>LangGraph, vector store: chưa dùng. Pipeline video không cần retrieval.</a:t>
            </a:r>
            <a:endParaRPr lang="en-US" sz="1200" dirty="0"/>
          </a:p>
        </p:txBody>
      </p:sp>
      <p:sp>
        <p:nvSpPr>
          <p:cNvPr id="39" name="Text 31"/>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IncidentLens · Team P-076</a:t>
            </a:r>
            <a:endParaRPr lang="en-US" sz="1200" dirty="0"/>
          </a:p>
        </p:txBody>
      </p:sp>
      <p:sp>
        <p:nvSpPr>
          <p:cNvPr id="40" name="Text 32"/>
          <p:cNvSpPr/>
          <p:nvPr/>
        </p:nvSpPr>
        <p:spPr>
          <a:xfrm>
            <a:off x="9417050" y="6238239"/>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05 / 10</a:t>
            </a:r>
            <a:endParaRPr lang="en-US" sz="12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lide 6">
    <p:bg>
      <p:bgPr>
        <a:solidFill>
          <a:srgbClr val="131F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5A524"/>
                </a:solidFill>
                <a:latin typeface="Courier New" pitchFamily="49" charset="0"/>
                <a:ea typeface="Courier New" pitchFamily="49" charset="-122"/>
                <a:cs typeface="Courier New" pitchFamily="49" charset="-120"/>
              </a:rPr>
              <a:t>05 · CÁCH TIẾP CẬN AI</a:t>
            </a:r>
            <a:endParaRPr lang="en-US" sz="1200" dirty="0"/>
          </a:p>
        </p:txBody>
      </p:sp>
      <p:sp>
        <p:nvSpPr>
          <p:cNvPr id="3" name="Text 1"/>
          <p:cNvSpPr/>
          <p:nvPr>
            <p:ph type="title"/>
          </p:nvPr>
        </p:nvSpPr>
        <p:spPr>
          <a:xfrm>
            <a:off x="812800" y="1280161"/>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EEF2F6"/>
                </a:solidFill>
                <a:latin typeface="Arial" pitchFamily="34" charset="0"/>
                <a:ea typeface="Arial" pitchFamily="34" charset="-122"/>
                <a:cs typeface="Arial" pitchFamily="34" charset="-120"/>
              </a:rPr>
              <a:t>VLM đọc frame, code kiểm chứng</a:t>
            </a:r>
            <a:endParaRPr lang="en-US" sz="3600" dirty="0"/>
          </a:p>
        </p:txBody>
      </p:sp>
      <p:sp>
        <p:nvSpPr>
          <p:cNvPr id="4" name="Shape 2"/>
          <p:cNvSpPr/>
          <p:nvPr/>
        </p:nvSpPr>
        <p:spPr>
          <a:xfrm>
            <a:off x="815975" y="2063114"/>
            <a:ext cx="1781810" cy="745490"/>
          </a:xfrm>
          <a:prstGeom prst="roundRect">
            <a:avLst>
              <a:gd name="adj" fmla="val 13203"/>
            </a:avLst>
          </a:prstGeom>
          <a:solidFill>
            <a:srgbClr val="1A2840"/>
          </a:solidFill>
          <a:ln w="6350">
            <a:solidFill>
              <a:srgbClr val="2A3A55"/>
            </a:solidFill>
            <a:prstDash val="solid"/>
          </a:ln>
        </p:spPr>
      </p:sp>
      <p:sp>
        <p:nvSpPr>
          <p:cNvPr id="5" name="Text 3"/>
          <p:cNvSpPr/>
          <p:nvPr/>
        </p:nvSpPr>
        <p:spPr>
          <a:xfrm>
            <a:off x="970280" y="2192021"/>
            <a:ext cx="15240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CSV</a:t>
            </a:r>
            <a:endParaRPr lang="en-US" sz="1200" dirty="0"/>
          </a:p>
        </p:txBody>
      </p:sp>
      <p:sp>
        <p:nvSpPr>
          <p:cNvPr id="6" name="Text 4"/>
          <p:cNvSpPr/>
          <p:nvPr/>
        </p:nvSpPr>
        <p:spPr>
          <a:xfrm>
            <a:off x="970280" y="2430782"/>
            <a:ext cx="15240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EF2F6"/>
                </a:solidFill>
                <a:latin typeface="Arial" pitchFamily="34" charset="0"/>
                <a:ea typeface="Arial" pitchFamily="34" charset="-122"/>
                <a:cs typeface="Arial" pitchFamily="34" charset="-120"/>
              </a:rPr>
              <a:t>Trigger</a:t>
            </a:r>
            <a:endParaRPr lang="en-US" sz="1400" dirty="0"/>
          </a:p>
        </p:txBody>
      </p:sp>
      <p:pic>
        <p:nvPicPr>
          <p:cNvPr id="7" name="Image 0" descr="connector">    </p:cNvPr>
          <p:cNvPicPr>
            <a:picLocks noChangeAspect="1"/>
          </p:cNvPicPr>
          <p:nvPr/>
        </p:nvPicPr>
        <p:blipFill>
          <a:blip r:embed="rId1"/>
          <a:srcRect l="0" r="0" t="0" b="0"/>
          <a:stretch/>
        </p:blipFill>
        <p:spPr>
          <a:xfrm>
            <a:off x="2677160" y="2397761"/>
            <a:ext cx="254000" cy="76200"/>
          </a:xfrm>
          <a:prstGeom prst="rect">
            <a:avLst/>
          </a:prstGeom>
        </p:spPr>
      </p:pic>
      <p:sp>
        <p:nvSpPr>
          <p:cNvPr id="8" name="Shape 5"/>
          <p:cNvSpPr/>
          <p:nvPr/>
        </p:nvSpPr>
        <p:spPr>
          <a:xfrm>
            <a:off x="3010535" y="2063114"/>
            <a:ext cx="1781810" cy="745490"/>
          </a:xfrm>
          <a:prstGeom prst="roundRect">
            <a:avLst>
              <a:gd name="adj" fmla="val 13203"/>
            </a:avLst>
          </a:prstGeom>
          <a:solidFill>
            <a:srgbClr val="1A2840"/>
          </a:solidFill>
          <a:ln w="6350">
            <a:solidFill>
              <a:srgbClr val="2A3A55"/>
            </a:solidFill>
            <a:prstDash val="solid"/>
          </a:ln>
        </p:spPr>
      </p:sp>
      <p:sp>
        <p:nvSpPr>
          <p:cNvPr id="9" name="Text 6"/>
          <p:cNvSpPr/>
          <p:nvPr/>
        </p:nvSpPr>
        <p:spPr>
          <a:xfrm>
            <a:off x="3164840" y="2192021"/>
            <a:ext cx="15240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FFMPEG</a:t>
            </a:r>
            <a:endParaRPr lang="en-US" sz="1200" dirty="0"/>
          </a:p>
        </p:txBody>
      </p:sp>
      <p:sp>
        <p:nvSpPr>
          <p:cNvPr id="10" name="Text 7"/>
          <p:cNvSpPr/>
          <p:nvPr/>
        </p:nvSpPr>
        <p:spPr>
          <a:xfrm>
            <a:off x="3164840" y="2430782"/>
            <a:ext cx="15240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EF2F6"/>
                </a:solidFill>
                <a:latin typeface="Arial" pitchFamily="34" charset="0"/>
                <a:ea typeface="Arial" pitchFamily="34" charset="-122"/>
                <a:cs typeface="Arial" pitchFamily="34" charset="-120"/>
              </a:rPr>
              <a:t>Frame + ID</a:t>
            </a:r>
            <a:endParaRPr lang="en-US" sz="1400" dirty="0"/>
          </a:p>
        </p:txBody>
      </p:sp>
      <p:pic>
        <p:nvPicPr>
          <p:cNvPr id="11" name="Image 1" descr="connector">    </p:cNvPr>
          <p:cNvPicPr>
            <a:picLocks noChangeAspect="1"/>
          </p:cNvPicPr>
          <p:nvPr/>
        </p:nvPicPr>
        <p:blipFill>
          <a:blip r:embed="rId2"/>
          <a:srcRect l="0" r="0" t="0" b="0"/>
          <a:stretch/>
        </p:blipFill>
        <p:spPr>
          <a:xfrm>
            <a:off x="4871720" y="2397761"/>
            <a:ext cx="254000" cy="76200"/>
          </a:xfrm>
          <a:prstGeom prst="rect">
            <a:avLst/>
          </a:prstGeom>
        </p:spPr>
      </p:pic>
      <p:sp>
        <p:nvSpPr>
          <p:cNvPr id="12" name="Shape 8"/>
          <p:cNvSpPr/>
          <p:nvPr/>
        </p:nvSpPr>
        <p:spPr>
          <a:xfrm>
            <a:off x="5205095" y="2063114"/>
            <a:ext cx="1781810" cy="745490"/>
          </a:xfrm>
          <a:prstGeom prst="roundRect">
            <a:avLst>
              <a:gd name="adj" fmla="val 13203"/>
            </a:avLst>
          </a:prstGeom>
          <a:solidFill>
            <a:srgbClr val="2B2412"/>
          </a:solidFill>
          <a:ln w="6350">
            <a:solidFill>
              <a:srgbClr val="F5A524"/>
            </a:solidFill>
            <a:prstDash val="solid"/>
          </a:ln>
        </p:spPr>
      </p:sp>
      <p:sp>
        <p:nvSpPr>
          <p:cNvPr id="13" name="Text 9"/>
          <p:cNvSpPr/>
          <p:nvPr/>
        </p:nvSpPr>
        <p:spPr>
          <a:xfrm>
            <a:off x="5359400" y="2192021"/>
            <a:ext cx="15240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A524"/>
                </a:solidFill>
                <a:latin typeface="Courier New" pitchFamily="49" charset="0"/>
                <a:ea typeface="Courier New" pitchFamily="49" charset="-122"/>
                <a:cs typeface="Courier New" pitchFamily="49" charset="-120"/>
              </a:rPr>
              <a:t>QWEN3.5</a:t>
            </a:r>
            <a:endParaRPr lang="en-US" sz="1200" dirty="0"/>
          </a:p>
        </p:txBody>
      </p:sp>
      <p:sp>
        <p:nvSpPr>
          <p:cNvPr id="14" name="Text 10"/>
          <p:cNvSpPr/>
          <p:nvPr/>
        </p:nvSpPr>
        <p:spPr>
          <a:xfrm>
            <a:off x="5359400" y="2430782"/>
            <a:ext cx="15240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EF2F6"/>
                </a:solidFill>
                <a:latin typeface="Arial" pitchFamily="34" charset="0"/>
                <a:ea typeface="Arial" pitchFamily="34" charset="-122"/>
                <a:cs typeface="Arial" pitchFamily="34" charset="-120"/>
              </a:rPr>
              <a:t>JSON schema</a:t>
            </a:r>
            <a:endParaRPr lang="en-US" sz="1400" dirty="0"/>
          </a:p>
        </p:txBody>
      </p:sp>
      <p:pic>
        <p:nvPicPr>
          <p:cNvPr id="15" name="Image 2" descr="connector">    </p:cNvPr>
          <p:cNvPicPr>
            <a:picLocks noChangeAspect="1"/>
          </p:cNvPicPr>
          <p:nvPr/>
        </p:nvPicPr>
        <p:blipFill>
          <a:blip r:embed="rId3"/>
          <a:srcRect l="0" r="0" t="0" b="0"/>
          <a:stretch/>
        </p:blipFill>
        <p:spPr>
          <a:xfrm>
            <a:off x="7066280" y="2397761"/>
            <a:ext cx="254000" cy="76200"/>
          </a:xfrm>
          <a:prstGeom prst="rect">
            <a:avLst/>
          </a:prstGeom>
        </p:spPr>
      </p:pic>
      <p:sp>
        <p:nvSpPr>
          <p:cNvPr id="16" name="Shape 11"/>
          <p:cNvSpPr/>
          <p:nvPr/>
        </p:nvSpPr>
        <p:spPr>
          <a:xfrm>
            <a:off x="7399655" y="2063114"/>
            <a:ext cx="1781810" cy="745490"/>
          </a:xfrm>
          <a:prstGeom prst="roundRect">
            <a:avLst>
              <a:gd name="adj" fmla="val 13203"/>
            </a:avLst>
          </a:prstGeom>
          <a:solidFill>
            <a:srgbClr val="1A2840"/>
          </a:solidFill>
          <a:ln w="6350">
            <a:solidFill>
              <a:srgbClr val="2A3A55"/>
            </a:solidFill>
            <a:prstDash val="solid"/>
          </a:ln>
        </p:spPr>
      </p:sp>
      <p:sp>
        <p:nvSpPr>
          <p:cNvPr id="17" name="Text 12"/>
          <p:cNvSpPr/>
          <p:nvPr/>
        </p:nvSpPr>
        <p:spPr>
          <a:xfrm>
            <a:off x="7553960" y="2192021"/>
            <a:ext cx="15240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CODE</a:t>
            </a:r>
            <a:endParaRPr lang="en-US" sz="1200" dirty="0"/>
          </a:p>
        </p:txBody>
      </p:sp>
      <p:sp>
        <p:nvSpPr>
          <p:cNvPr id="18" name="Text 13"/>
          <p:cNvSpPr/>
          <p:nvPr/>
        </p:nvSpPr>
        <p:spPr>
          <a:xfrm>
            <a:off x="7553960" y="2430782"/>
            <a:ext cx="15240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EF2F6"/>
                </a:solidFill>
                <a:latin typeface="Arial" pitchFamily="34" charset="0"/>
                <a:ea typeface="Arial" pitchFamily="34" charset="-122"/>
                <a:cs typeface="Arial" pitchFamily="34" charset="-120"/>
              </a:rPr>
              <a:t>Validator</a:t>
            </a:r>
            <a:endParaRPr lang="en-US" sz="1400" dirty="0"/>
          </a:p>
        </p:txBody>
      </p:sp>
      <p:pic>
        <p:nvPicPr>
          <p:cNvPr id="19" name="Image 3" descr="connector">    </p:cNvPr>
          <p:cNvPicPr>
            <a:picLocks noChangeAspect="1"/>
          </p:cNvPicPr>
          <p:nvPr/>
        </p:nvPicPr>
        <p:blipFill>
          <a:blip r:embed="rId4"/>
          <a:srcRect l="0" r="0" t="0" b="0"/>
          <a:stretch/>
        </p:blipFill>
        <p:spPr>
          <a:xfrm>
            <a:off x="9260840" y="2397761"/>
            <a:ext cx="254000" cy="76200"/>
          </a:xfrm>
          <a:prstGeom prst="rect">
            <a:avLst/>
          </a:prstGeom>
        </p:spPr>
      </p:pic>
      <p:sp>
        <p:nvSpPr>
          <p:cNvPr id="20" name="Shape 14"/>
          <p:cNvSpPr/>
          <p:nvPr/>
        </p:nvSpPr>
        <p:spPr>
          <a:xfrm>
            <a:off x="9594215" y="2063114"/>
            <a:ext cx="1781810" cy="745490"/>
          </a:xfrm>
          <a:prstGeom prst="roundRect">
            <a:avLst>
              <a:gd name="adj" fmla="val 13203"/>
            </a:avLst>
          </a:prstGeom>
          <a:solidFill>
            <a:srgbClr val="1A2840"/>
          </a:solidFill>
          <a:ln w="6350">
            <a:solidFill>
              <a:srgbClr val="2A3A55"/>
            </a:solidFill>
            <a:prstDash val="solid"/>
          </a:ln>
        </p:spPr>
      </p:sp>
      <p:sp>
        <p:nvSpPr>
          <p:cNvPr id="21" name="Text 15"/>
          <p:cNvSpPr/>
          <p:nvPr/>
        </p:nvSpPr>
        <p:spPr>
          <a:xfrm>
            <a:off x="9748520" y="2192021"/>
            <a:ext cx="15240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NGƯỜI</a:t>
            </a:r>
            <a:endParaRPr lang="en-US" sz="1200" dirty="0"/>
          </a:p>
        </p:txBody>
      </p:sp>
      <p:sp>
        <p:nvSpPr>
          <p:cNvPr id="22" name="Text 16"/>
          <p:cNvSpPr/>
          <p:nvPr/>
        </p:nvSpPr>
        <p:spPr>
          <a:xfrm>
            <a:off x="9748520" y="2430782"/>
            <a:ext cx="15240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EEF2F6"/>
                </a:solidFill>
                <a:latin typeface="Arial" pitchFamily="34" charset="0"/>
                <a:ea typeface="Arial" pitchFamily="34" charset="-122"/>
                <a:cs typeface="Arial" pitchFamily="34" charset="-120"/>
              </a:rPr>
              <a:t>Duyệt DRAFT</a:t>
            </a:r>
            <a:endParaRPr lang="en-US" sz="1400" dirty="0"/>
          </a:p>
        </p:txBody>
      </p:sp>
      <p:sp>
        <p:nvSpPr>
          <p:cNvPr id="23" name="Shape 17"/>
          <p:cNvSpPr/>
          <p:nvPr/>
        </p:nvSpPr>
        <p:spPr>
          <a:xfrm>
            <a:off x="815975" y="3068957"/>
            <a:ext cx="10560050" cy="1736090"/>
          </a:xfrm>
          <a:prstGeom prst="roundRect">
            <a:avLst>
              <a:gd name="adj" fmla="val 7132"/>
            </a:avLst>
          </a:prstGeom>
          <a:solidFill>
            <a:srgbClr val="1A2840"/>
          </a:solidFill>
          <a:ln w="6350">
            <a:solidFill>
              <a:srgbClr val="2A3A55"/>
            </a:solidFill>
            <a:prstDash val="solid"/>
          </a:ln>
        </p:spPr>
      </p:sp>
      <p:sp>
        <p:nvSpPr>
          <p:cNvPr id="24" name="Text 18"/>
          <p:cNvSpPr/>
          <p:nvPr/>
        </p:nvSpPr>
        <p:spPr>
          <a:xfrm>
            <a:off x="1071880" y="3274061"/>
            <a:ext cx="102161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A524"/>
                </a:solidFill>
                <a:latin typeface="Arial" pitchFamily="34" charset="0"/>
                <a:ea typeface="Arial" pitchFamily="34" charset="-122"/>
                <a:cs typeface="Arial" pitchFamily="34" charset="-120"/>
              </a:rPr>
              <a:t>Prompt strategy</a:t>
            </a:r>
            <a:endParaRPr lang="en-US" sz="1600" dirty="0"/>
          </a:p>
        </p:txBody>
      </p:sp>
      <p:sp>
        <p:nvSpPr>
          <p:cNvPr id="25" name="Text 19"/>
          <p:cNvSpPr/>
          <p:nvPr/>
        </p:nvSpPr>
        <p:spPr>
          <a:xfrm>
            <a:off x="1169162" y="3619500"/>
            <a:ext cx="10111221" cy="825500"/>
          </a:xfrm>
          <a:prstGeom prst="rect">
            <a:avLst/>
          </a:prstGeom>
          <a:noFill/>
          <a:ln/>
        </p:spPr>
        <p:txBody>
          <a:bodyPr wrap="square" lIns="0" tIns="0" rIns="0" bIns="0" rtlCol="0" anchor="t">
            <a:normAutofit/>
          </a:bodyPr>
          <a:lstStyle/>
          <a:p>
            <a:pPr algn="l" marL="156718" indent="-156718">
              <a:lnSpc>
                <a:spcPts val="2100"/>
              </a:lnSpc>
              <a:buSzPct val="100000"/>
              <a:buChar char="•"/>
            </a:pPr>
            <a:r>
              <a:rPr lang="en-US" sz="1400" dirty="0">
                <a:solidFill>
                  <a:srgbClr val="C9D4E2"/>
                </a:solidFill>
                <a:latin typeface="Arial" pitchFamily="34" charset="0"/>
                <a:ea typeface="Arial" pitchFamily="34" charset="-122"/>
                <a:cs typeface="Arial" pitchFamily="34" charset="-120"/>
              </a:rPr>
              <a:t>Trigger memory: model stateless, worker giữ lịch sử</a:t>
            </a:r>
            <a:endParaRPr lang="en-US" sz="1400" dirty="0"/>
          </a:p>
          <a:p>
            <a:pPr algn="l" marL="156718" indent="-156718">
              <a:lnSpc>
                <a:spcPts val="2100"/>
              </a:lnSpc>
              <a:buSzPct val="100000"/>
              <a:buChar char="•"/>
            </a:pPr>
            <a:r>
              <a:rPr lang="en-US" sz="1400" dirty="0">
                <a:solidFill>
                  <a:srgbClr val="C9D4E2"/>
                </a:solidFill>
                <a:latin typeface="Arial" pitchFamily="34" charset="0"/>
                <a:ea typeface="Arial" pitchFamily="34" charset="-122"/>
                <a:cs typeface="Arial" pitchFamily="34" charset="-120"/>
              </a:rPr>
              <a:t>Frame BEFORE · CORE · AFTER, giữ đúng giây video</a:t>
            </a:r>
            <a:endParaRPr lang="en-US" sz="1400" dirty="0"/>
          </a:p>
          <a:p>
            <a:pPr algn="l" marL="156718" indent="-156718">
              <a:lnSpc>
                <a:spcPts val="2100"/>
              </a:lnSpc>
              <a:buSzPct val="100000"/>
              <a:buChar char="•"/>
            </a:pPr>
            <a:r>
              <a:rPr lang="en-US" sz="1400" dirty="0">
                <a:solidFill>
                  <a:srgbClr val="C9D4E2"/>
                </a:solidFill>
                <a:latin typeface="Arial" pitchFamily="34" charset="0"/>
                <a:ea typeface="Arial" pitchFamily="34" charset="-122"/>
                <a:cs typeface="Arial" pitchFamily="34" charset="-120"/>
              </a:rPr>
              <a:t>Tách OBSERVED · INFERENCE · UNKNOWN</a:t>
            </a:r>
            <a:endParaRPr lang="en-US" sz="1400" dirty="0"/>
          </a:p>
        </p:txBody>
      </p:sp>
      <p:sp>
        <p:nvSpPr>
          <p:cNvPr id="30" name="Text 24"/>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IncidentLens · Team P-076</a:t>
            </a:r>
            <a:endParaRPr lang="en-US" sz="1200" dirty="0"/>
          </a:p>
        </p:txBody>
      </p:sp>
      <p:sp>
        <p:nvSpPr>
          <p:cNvPr id="31" name="Text 25"/>
          <p:cNvSpPr/>
          <p:nvPr/>
        </p:nvSpPr>
        <p:spPr>
          <a:xfrm>
            <a:off x="9417050" y="6238239"/>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06 / 10</a:t>
            </a:r>
            <a:endParaRPr lang="en-US" sz="1200" dirty="0"/>
          </a:p>
        </p:txBody>
      </p:sp>
    </p:spTree>
  </p:cSld>
  <p:clrMapOvr>
    <a:masterClrMapping/>
  </p:clrMapOvr>
</p:sld>
</file>

<file path=ppt/slides/slide7.xml><?xml version="1.0" encoding="utf-8"?>
<p:sld xmlns:a="http://schemas.openxmlformats.org/drawingml/2006/main" xmlns:p="http://schemas.openxmlformats.org/presentationml/2006/main">
  <p:cSld name="Slide 7">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5A524"/>
                </a:solidFill>
                <a:latin typeface="Courier New" pitchFamily="49" charset="0"/>
                <a:ea typeface="Courier New" pitchFamily="49" charset="-122"/>
                <a:cs typeface="Courier New" pitchFamily="49" charset="-120"/>
              </a:rPr>
              <a:t>06 · ĐIỂM NỔI BẬT KỸ THUẬT</a:t>
            </a:r>
            <a:endParaRPr lang="en-US" sz="1200" dirty="0"/>
          </a:p>
        </p:txBody>
      </p:sp>
      <p:sp>
        <p:nvSpPr>
          <p:cNvPr id="3" name="Text 1"/>
          <p:cNvSpPr/>
          <p:nvPr>
            <p:ph type="title"/>
          </p:nvPr>
        </p:nvSpPr>
        <p:spPr>
          <a:xfrm>
            <a:off x="812800" y="1280161"/>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EEF2F6"/>
                </a:solidFill>
                <a:latin typeface="Arial" pitchFamily="34" charset="0"/>
                <a:ea typeface="Arial" pitchFamily="34" charset="-122"/>
                <a:cs typeface="Arial" pitchFamily="34" charset="-120"/>
              </a:rPr>
              <a:t>Kiểm chứng ở mọi tầng</a:t>
            </a:r>
            <a:endParaRPr lang="en-US" sz="3600" dirty="0"/>
          </a:p>
        </p:txBody>
      </p:sp>
      <p:sp>
        <p:nvSpPr>
          <p:cNvPr id="4" name="Shape 2"/>
          <p:cNvSpPr/>
          <p:nvPr/>
        </p:nvSpPr>
        <p:spPr>
          <a:xfrm>
            <a:off x="812800" y="2072639"/>
            <a:ext cx="3386614" cy="0"/>
          </a:xfrm>
          <a:prstGeom prst="line">
            <a:avLst/>
          </a:prstGeom>
          <a:noFill/>
          <a:ln w="25400">
            <a:solidFill>
              <a:srgbClr val="F5A524"/>
            </a:solidFill>
            <a:prstDash val="solid"/>
          </a:ln>
        </p:spPr>
      </p:sp>
      <p:sp>
        <p:nvSpPr>
          <p:cNvPr id="5" name="Text 3"/>
          <p:cNvSpPr/>
          <p:nvPr/>
        </p:nvSpPr>
        <p:spPr>
          <a:xfrm>
            <a:off x="812800" y="2237739"/>
            <a:ext cx="3488212"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EEF2F6"/>
                </a:solidFill>
                <a:latin typeface="Arial" pitchFamily="34" charset="0"/>
                <a:ea typeface="Arial" pitchFamily="34" charset="-122"/>
                <a:cs typeface="Arial" pitchFamily="34" charset="-120"/>
              </a:rPr>
              <a:t>9</a:t>
            </a:r>
            <a:endParaRPr lang="en-US" sz="4800" dirty="0"/>
          </a:p>
        </p:txBody>
      </p:sp>
      <p:sp>
        <p:nvSpPr>
          <p:cNvPr id="6" name="Text 4"/>
          <p:cNvSpPr/>
          <p:nvPr/>
        </p:nvSpPr>
        <p:spPr>
          <a:xfrm>
            <a:off x="812800" y="2959100"/>
            <a:ext cx="348821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BCB"/>
                </a:solidFill>
                <a:latin typeface="Arial" pitchFamily="34" charset="0"/>
                <a:ea typeface="Arial" pitchFamily="34" charset="-122"/>
                <a:cs typeface="Arial" pitchFamily="34" charset="-120"/>
              </a:rPr>
              <a:t>bước CI mỗi push / PR</a:t>
            </a:r>
            <a:endParaRPr lang="en-US" sz="1400" dirty="0"/>
          </a:p>
        </p:txBody>
      </p:sp>
      <p:sp>
        <p:nvSpPr>
          <p:cNvPr id="7" name="Shape 5"/>
          <p:cNvSpPr/>
          <p:nvPr/>
        </p:nvSpPr>
        <p:spPr>
          <a:xfrm>
            <a:off x="4402614" y="2072639"/>
            <a:ext cx="3386693" cy="0"/>
          </a:xfrm>
          <a:prstGeom prst="line">
            <a:avLst/>
          </a:prstGeom>
          <a:noFill/>
          <a:ln w="25400">
            <a:solidFill>
              <a:srgbClr val="F5A524"/>
            </a:solidFill>
            <a:prstDash val="solid"/>
          </a:ln>
        </p:spPr>
      </p:sp>
      <p:sp>
        <p:nvSpPr>
          <p:cNvPr id="8" name="Text 6"/>
          <p:cNvSpPr/>
          <p:nvPr/>
        </p:nvSpPr>
        <p:spPr>
          <a:xfrm>
            <a:off x="4402614" y="2237739"/>
            <a:ext cx="3488294"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EEF2F6"/>
                </a:solidFill>
                <a:latin typeface="Arial" pitchFamily="34" charset="0"/>
                <a:ea typeface="Arial" pitchFamily="34" charset="-122"/>
                <a:cs typeface="Arial" pitchFamily="34" charset="-120"/>
              </a:rPr>
              <a:t>279</a:t>
            </a:r>
            <a:endParaRPr lang="en-US" sz="4800" dirty="0"/>
          </a:p>
        </p:txBody>
      </p:sp>
      <p:sp>
        <p:nvSpPr>
          <p:cNvPr id="9" name="Text 7"/>
          <p:cNvSpPr/>
          <p:nvPr/>
        </p:nvSpPr>
        <p:spPr>
          <a:xfrm>
            <a:off x="4402614" y="2959100"/>
            <a:ext cx="3488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BCB"/>
                </a:solidFill>
                <a:latin typeface="Arial" pitchFamily="34" charset="0"/>
                <a:ea typeface="Arial" pitchFamily="34" charset="-122"/>
                <a:cs typeface="Arial" pitchFamily="34" charset="-120"/>
              </a:rPr>
              <a:t>hàm test pytest</a:t>
            </a:r>
            <a:endParaRPr lang="en-US" sz="1400" dirty="0"/>
          </a:p>
        </p:txBody>
      </p:sp>
      <p:sp>
        <p:nvSpPr>
          <p:cNvPr id="10" name="Shape 8"/>
          <p:cNvSpPr/>
          <p:nvPr/>
        </p:nvSpPr>
        <p:spPr>
          <a:xfrm>
            <a:off x="7992507" y="2072639"/>
            <a:ext cx="3386693" cy="0"/>
          </a:xfrm>
          <a:prstGeom prst="line">
            <a:avLst/>
          </a:prstGeom>
          <a:noFill/>
          <a:ln w="25400">
            <a:solidFill>
              <a:srgbClr val="2A3A55"/>
            </a:solidFill>
            <a:prstDash val="solid"/>
          </a:ln>
        </p:spPr>
      </p:sp>
      <p:sp>
        <p:nvSpPr>
          <p:cNvPr id="11" name="Text 9"/>
          <p:cNvSpPr/>
          <p:nvPr/>
        </p:nvSpPr>
        <p:spPr>
          <a:xfrm>
            <a:off x="7992507" y="2237739"/>
            <a:ext cx="3488294" cy="69596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7F8DA3"/>
                </a:solidFill>
                <a:latin typeface="Arial" pitchFamily="34" charset="0"/>
                <a:ea typeface="Arial" pitchFamily="34" charset="-122"/>
                <a:cs typeface="Arial" pitchFamily="34" charset="-120"/>
              </a:rPr>
              <a:t>349 ms</a:t>
            </a:r>
            <a:endParaRPr lang="en-US" sz="4800" dirty="0"/>
          </a:p>
        </p:txBody>
      </p:sp>
      <p:sp>
        <p:nvSpPr>
          <p:cNvPr id="12" name="Text 10"/>
          <p:cNvSpPr/>
          <p:nvPr/>
        </p:nvSpPr>
        <p:spPr>
          <a:xfrm>
            <a:off x="7992507" y="2959100"/>
            <a:ext cx="3488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BCB"/>
                </a:solidFill>
                <a:latin typeface="Arial" pitchFamily="34" charset="0"/>
                <a:ea typeface="Arial" pitchFamily="34" charset="-122"/>
                <a:cs typeface="Arial" pitchFamily="34" charset="-120"/>
              </a:rPr>
              <a:t>API health p95 · n=20 (warm)</a:t>
            </a:r>
            <a:endParaRPr lang="en-US" sz="1400" dirty="0"/>
          </a:p>
        </p:txBody>
      </p:sp>
      <p:sp>
        <p:nvSpPr>
          <p:cNvPr id="13" name="Shape 11"/>
          <p:cNvSpPr/>
          <p:nvPr/>
        </p:nvSpPr>
        <p:spPr>
          <a:xfrm>
            <a:off x="815975" y="3465196"/>
            <a:ext cx="5175250" cy="948690"/>
          </a:xfrm>
          <a:prstGeom prst="roundRect">
            <a:avLst>
              <a:gd name="adj" fmla="val 13052"/>
            </a:avLst>
          </a:prstGeom>
          <a:solidFill>
            <a:srgbClr val="1A2840"/>
          </a:solidFill>
          <a:ln w="6350">
            <a:solidFill>
              <a:srgbClr val="2A3A55"/>
            </a:solidFill>
            <a:prstDash val="solid"/>
          </a:ln>
        </p:spPr>
      </p:sp>
      <p:sp>
        <p:nvSpPr>
          <p:cNvPr id="14" name="Text 12"/>
          <p:cNvSpPr/>
          <p:nvPr/>
        </p:nvSpPr>
        <p:spPr>
          <a:xfrm>
            <a:off x="1071880" y="3670300"/>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A524"/>
                </a:solidFill>
                <a:latin typeface="Courier New" pitchFamily="49" charset="0"/>
                <a:ea typeface="Courier New" pitchFamily="49" charset="-122"/>
                <a:cs typeface="Courier New" pitchFamily="49" charset="-120"/>
              </a:rPr>
              <a:t>GUARDRAIL 1 · PROMPT</a:t>
            </a:r>
            <a:endParaRPr lang="en-US" sz="1200" dirty="0"/>
          </a:p>
        </p:txBody>
      </p:sp>
      <p:sp>
        <p:nvSpPr>
          <p:cNvPr id="15" name="Text 13"/>
          <p:cNvSpPr/>
          <p:nvPr/>
        </p:nvSpPr>
        <p:spPr>
          <a:xfrm>
            <a:off x="1071880" y="3959861"/>
            <a:ext cx="480334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4E2"/>
                </a:solidFill>
                <a:latin typeface="Arial" pitchFamily="34" charset="0"/>
                <a:ea typeface="Arial" pitchFamily="34" charset="-122"/>
                <a:cs typeface="Arial" pitchFamily="34" charset="-120"/>
              </a:rPr>
              <a:t>Bắt buộc evidence ID, cấm suy đoán, luôn DRAFT</a:t>
            </a:r>
            <a:endParaRPr lang="en-US" sz="1400" dirty="0"/>
          </a:p>
        </p:txBody>
      </p:sp>
      <p:sp>
        <p:nvSpPr>
          <p:cNvPr id="16" name="Shape 14"/>
          <p:cNvSpPr/>
          <p:nvPr/>
        </p:nvSpPr>
        <p:spPr>
          <a:xfrm>
            <a:off x="6200775" y="3465196"/>
            <a:ext cx="5175250" cy="948690"/>
          </a:xfrm>
          <a:prstGeom prst="roundRect">
            <a:avLst>
              <a:gd name="adj" fmla="val 13052"/>
            </a:avLst>
          </a:prstGeom>
          <a:solidFill>
            <a:srgbClr val="1A2840"/>
          </a:solidFill>
          <a:ln w="6350">
            <a:solidFill>
              <a:srgbClr val="2A3A55"/>
            </a:solidFill>
            <a:prstDash val="solid"/>
          </a:ln>
        </p:spPr>
      </p:sp>
      <p:sp>
        <p:nvSpPr>
          <p:cNvPr id="17" name="Text 15"/>
          <p:cNvSpPr/>
          <p:nvPr/>
        </p:nvSpPr>
        <p:spPr>
          <a:xfrm>
            <a:off x="6456680" y="3670300"/>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A524"/>
                </a:solidFill>
                <a:latin typeface="Courier New" pitchFamily="49" charset="0"/>
                <a:ea typeface="Courier New" pitchFamily="49" charset="-122"/>
                <a:cs typeface="Courier New" pitchFamily="49" charset="-120"/>
              </a:rPr>
              <a:t>GUARDRAIL 2 · CODE</a:t>
            </a:r>
            <a:endParaRPr lang="en-US" sz="1200" dirty="0"/>
          </a:p>
        </p:txBody>
      </p:sp>
      <p:sp>
        <p:nvSpPr>
          <p:cNvPr id="18" name="Text 16"/>
          <p:cNvSpPr/>
          <p:nvPr/>
        </p:nvSpPr>
        <p:spPr>
          <a:xfrm>
            <a:off x="6456680" y="3959861"/>
            <a:ext cx="480334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4E2"/>
                </a:solidFill>
                <a:latin typeface="Arial" pitchFamily="34" charset="0"/>
                <a:ea typeface="Arial" pitchFamily="34" charset="-122"/>
                <a:cs typeface="Arial" pitchFamily="34" charset="-120"/>
              </a:rPr>
              <a:t>Schema, SHA-256, khung thời gian, phân quyền</a:t>
            </a:r>
            <a:endParaRPr lang="en-US" sz="1400" dirty="0"/>
          </a:p>
        </p:txBody>
      </p:sp>
      <p:sp>
        <p:nvSpPr>
          <p:cNvPr id="19" name="Text 17"/>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IncidentLens · Team P-076</a:t>
            </a:r>
            <a:endParaRPr lang="en-US" sz="1200" dirty="0"/>
          </a:p>
        </p:txBody>
      </p:sp>
      <p:sp>
        <p:nvSpPr>
          <p:cNvPr id="20" name="Text 18"/>
          <p:cNvSpPr/>
          <p:nvPr/>
        </p:nvSpPr>
        <p:spPr>
          <a:xfrm>
            <a:off x="9417050" y="6238239"/>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07 / 10</a:t>
            </a:r>
            <a:endParaRPr lang="en-US" sz="12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Slide 8">
    <p:bg>
      <p:bgPr>
        <a:solidFill>
          <a:srgbClr val="F5A5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3D2E06"/>
                </a:solidFill>
                <a:latin typeface="Courier New" pitchFamily="49" charset="0"/>
                <a:ea typeface="Courier New" pitchFamily="49" charset="-122"/>
                <a:cs typeface="Courier New" pitchFamily="49" charset="-120"/>
              </a:rPr>
              <a:t>07 · DEMO VIDEO</a:t>
            </a:r>
            <a:endParaRPr lang="en-US" sz="1200" dirty="0"/>
          </a:p>
        </p:txBody>
      </p:sp>
      <p:sp>
        <p:nvSpPr>
          <p:cNvPr id="3" name="Text 1"/>
          <p:cNvSpPr/>
          <p:nvPr>
            <p:ph type="title"/>
          </p:nvPr>
        </p:nvSpPr>
        <p:spPr>
          <a:xfrm>
            <a:off x="812800" y="1280161"/>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0E1726"/>
                </a:solidFill>
                <a:latin typeface="Arial" pitchFamily="34" charset="0"/>
                <a:ea typeface="Arial" pitchFamily="34" charset="-122"/>
                <a:cs typeface="Arial" pitchFamily="34" charset="-120"/>
              </a:rPr>
              <a:t>Một hồ sơ, từ upload đến phê duyệt</a:t>
            </a:r>
            <a:endParaRPr lang="en-US" sz="3600" dirty="0"/>
          </a:p>
        </p:txBody>
      </p:sp>
      <p:sp>
        <p:nvSpPr>
          <p:cNvPr id="4" name="Shape 2"/>
          <p:cNvSpPr/>
          <p:nvPr/>
        </p:nvSpPr>
        <p:spPr>
          <a:xfrm>
            <a:off x="825500" y="2072639"/>
            <a:ext cx="2768600" cy="2768600"/>
          </a:xfrm>
          <a:prstGeom prst="roundRect">
            <a:avLst>
              <a:gd name="adj" fmla="val 5046"/>
            </a:avLst>
          </a:prstGeom>
          <a:solidFill>
            <a:srgbClr val="FBE3B0"/>
          </a:solidFill>
          <a:ln w="25400">
            <a:solidFill>
              <a:srgbClr val="0E1726"/>
            </a:solidFill>
            <a:prstDash val="dash"/>
          </a:ln>
        </p:spPr>
      </p:sp>
      <p:pic>
        <p:nvPicPr>
          <p:cNvPr id="5" name="Image 0" descr="QR video demo Google Drive">
            <a:hlinkClick r:id="rIdDemoVideo"/>
          </p:cNvPr>
          <p:cNvPicPr>
            <a:picLocks noChangeAspect="1"/>
          </p:cNvPicPr>
          <p:nvPr/>
        </p:nvPicPr>
        <p:blipFill>
          <a:blip r:embed="rId1"/>
          <a:srcRect l="0" r="0" t="0" b="0"/>
          <a:stretch/>
        </p:blipFill>
        <p:spPr>
          <a:xfrm>
            <a:off x="1257300" y="2240000"/>
            <a:ext cx="1905000" cy="1905000"/>
          </a:xfrm>
          <a:prstGeom prst="rect">
            <a:avLst/>
          </a:prstGeom>
        </p:spPr>
      </p:pic>
      <p:sp>
        <p:nvSpPr>
          <p:cNvPr id="6" name="Text 3"/>
          <p:cNvSpPr/>
          <p:nvPr/>
        </p:nvSpPr>
        <p:spPr>
          <a:xfrm>
            <a:off x="1100000" y="4290000"/>
            <a:ext cx="220000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0E1726"/>
                </a:solidFill>
                <a:latin typeface="Arial" pitchFamily="34" charset="0"/>
                <a:ea typeface="Arial" pitchFamily="34" charset="-122"/>
                <a:cs typeface="Arial" pitchFamily="34" charset="-120"/>
                <a:hlinkClick r:id="rIdDemoVideo"/>
              </a:rPr>
              <a:t>Mở video demo</a:t>
            </a:r>
            <a:endParaRPr lang="en-US" sz="1600" dirty="0"/>
          </a:p>
        </p:txBody>
      </p:sp>
      <p:sp>
        <p:nvSpPr>
          <p:cNvPr id="7" name="Text 4"/>
          <p:cNvSpPr/>
          <p:nvPr/>
        </p:nvSpPr>
        <p:spPr>
          <a:xfrm>
            <a:off x="1518380" y="4620000"/>
            <a:ext cx="138284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D2E06"/>
                </a:solidFill>
                <a:latin typeface="Arial" pitchFamily="34" charset="0"/>
                <a:ea typeface="Arial" pitchFamily="34" charset="-122"/>
                <a:cs typeface="Arial" pitchFamily="34" charset="-120"/>
              </a:rPr>
              <a:t>Google Drive</a:t>
            </a:r>
            <a:endParaRPr lang="en-US" sz="1200" dirty="0"/>
          </a:p>
        </p:txBody>
      </p:sp>
      <p:sp>
        <p:nvSpPr>
          <p:cNvPr id="8" name="Shape 5"/>
          <p:cNvSpPr/>
          <p:nvPr/>
        </p:nvSpPr>
        <p:spPr>
          <a:xfrm>
            <a:off x="4013200" y="2592071"/>
            <a:ext cx="7366000" cy="0"/>
          </a:xfrm>
          <a:prstGeom prst="line">
            <a:avLst/>
          </a:prstGeom>
          <a:noFill/>
          <a:ln w="12700">
            <a:solidFill>
              <a:srgbClr val="0E1726"/>
            </a:solidFill>
            <a:prstDash val="solid"/>
          </a:ln>
        </p:spPr>
      </p:sp>
      <p:sp>
        <p:nvSpPr>
          <p:cNvPr id="9" name="Text 6"/>
          <p:cNvSpPr/>
          <p:nvPr/>
        </p:nvSpPr>
        <p:spPr>
          <a:xfrm>
            <a:off x="4013200" y="2237739"/>
            <a:ext cx="7493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726"/>
                </a:solidFill>
                <a:latin typeface="Courier New" pitchFamily="49" charset="0"/>
                <a:ea typeface="Courier New" pitchFamily="49" charset="-122"/>
                <a:cs typeface="Courier New" pitchFamily="49" charset="-120"/>
              </a:rPr>
              <a:t>0:00</a:t>
            </a:r>
            <a:endParaRPr lang="en-US" sz="1400" dirty="0"/>
          </a:p>
        </p:txBody>
      </p:sp>
      <p:sp>
        <p:nvSpPr>
          <p:cNvPr id="10" name="Text 7"/>
          <p:cNvSpPr/>
          <p:nvPr/>
        </p:nvSpPr>
        <p:spPr>
          <a:xfrm>
            <a:off x="4914900" y="2192021"/>
            <a:ext cx="665822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1726"/>
                </a:solidFill>
                <a:latin typeface="Arial" pitchFamily="34" charset="0"/>
                <a:ea typeface="Arial" pitchFamily="34" charset="-122"/>
                <a:cs typeface="Arial" pitchFamily="34" charset="-120"/>
              </a:rPr>
              <a:t>Tạo hồ sơ, tải MP4 + CSV</a:t>
            </a:r>
            <a:endParaRPr lang="en-US" sz="1600" dirty="0"/>
          </a:p>
        </p:txBody>
      </p:sp>
      <p:sp>
        <p:nvSpPr>
          <p:cNvPr id="11" name="Shape 8"/>
          <p:cNvSpPr/>
          <p:nvPr/>
        </p:nvSpPr>
        <p:spPr>
          <a:xfrm>
            <a:off x="4013200" y="3125471"/>
            <a:ext cx="7366000" cy="0"/>
          </a:xfrm>
          <a:prstGeom prst="line">
            <a:avLst/>
          </a:prstGeom>
          <a:noFill/>
          <a:ln w="12700">
            <a:solidFill>
              <a:srgbClr val="0E1726"/>
            </a:solidFill>
            <a:prstDash val="solid"/>
          </a:ln>
        </p:spPr>
      </p:sp>
      <p:sp>
        <p:nvSpPr>
          <p:cNvPr id="12" name="Text 9"/>
          <p:cNvSpPr/>
          <p:nvPr/>
        </p:nvSpPr>
        <p:spPr>
          <a:xfrm>
            <a:off x="4013200" y="2771139"/>
            <a:ext cx="7493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726"/>
                </a:solidFill>
                <a:latin typeface="Courier New" pitchFamily="49" charset="0"/>
                <a:ea typeface="Courier New" pitchFamily="49" charset="-122"/>
                <a:cs typeface="Courier New" pitchFamily="49" charset="-120"/>
              </a:rPr>
              <a:t>0:20</a:t>
            </a:r>
            <a:endParaRPr lang="en-US" sz="1400" dirty="0"/>
          </a:p>
        </p:txBody>
      </p:sp>
      <p:sp>
        <p:nvSpPr>
          <p:cNvPr id="13" name="Text 10"/>
          <p:cNvSpPr/>
          <p:nvPr/>
        </p:nvSpPr>
        <p:spPr>
          <a:xfrm>
            <a:off x="4914900" y="2725421"/>
            <a:ext cx="665822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1726"/>
                </a:solidFill>
                <a:latin typeface="Arial" pitchFamily="34" charset="0"/>
                <a:ea typeface="Arial" pitchFamily="34" charset="-122"/>
                <a:cs typeface="Arial" pitchFamily="34" charset="-120"/>
              </a:rPr>
              <a:t>Gửi phân tích, xem tiến độ</a:t>
            </a:r>
            <a:endParaRPr lang="en-US" sz="1600" dirty="0"/>
          </a:p>
        </p:txBody>
      </p:sp>
      <p:sp>
        <p:nvSpPr>
          <p:cNvPr id="14" name="Shape 11"/>
          <p:cNvSpPr/>
          <p:nvPr/>
        </p:nvSpPr>
        <p:spPr>
          <a:xfrm>
            <a:off x="4013200" y="3658871"/>
            <a:ext cx="7366000" cy="0"/>
          </a:xfrm>
          <a:prstGeom prst="line">
            <a:avLst/>
          </a:prstGeom>
          <a:noFill/>
          <a:ln w="12700">
            <a:solidFill>
              <a:srgbClr val="0E1726"/>
            </a:solidFill>
            <a:prstDash val="solid"/>
          </a:ln>
        </p:spPr>
      </p:sp>
      <p:sp>
        <p:nvSpPr>
          <p:cNvPr id="15" name="Text 12"/>
          <p:cNvSpPr/>
          <p:nvPr/>
        </p:nvSpPr>
        <p:spPr>
          <a:xfrm>
            <a:off x="4013200" y="3304539"/>
            <a:ext cx="7493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726"/>
                </a:solidFill>
                <a:latin typeface="Courier New" pitchFamily="49" charset="0"/>
                <a:ea typeface="Courier New" pitchFamily="49" charset="-122"/>
                <a:cs typeface="Courier New" pitchFamily="49" charset="-120"/>
              </a:rPr>
              <a:t>0:45</a:t>
            </a:r>
            <a:endParaRPr lang="en-US" sz="1400" dirty="0"/>
          </a:p>
        </p:txBody>
      </p:sp>
      <p:sp>
        <p:nvSpPr>
          <p:cNvPr id="16" name="Text 13"/>
          <p:cNvSpPr/>
          <p:nvPr/>
        </p:nvSpPr>
        <p:spPr>
          <a:xfrm>
            <a:off x="4914900" y="3258821"/>
            <a:ext cx="6658229"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E1726"/>
                </a:solidFill>
                <a:latin typeface="Arial" pitchFamily="34" charset="0"/>
                <a:ea typeface="Arial" pitchFamily="34" charset="-122"/>
                <a:cs typeface="Arial" pitchFamily="34" charset="-120"/>
              </a:rPr>
              <a:t>Đối chiếu video, timeline, evidence</a:t>
            </a:r>
            <a:endParaRPr lang="en-US" sz="1600" dirty="0"/>
          </a:p>
        </p:txBody>
      </p:sp>
      <p:sp>
        <p:nvSpPr>
          <p:cNvPr id="17" name="Shape 14"/>
          <p:cNvSpPr/>
          <p:nvPr/>
        </p:nvSpPr>
        <p:spPr>
          <a:xfrm>
            <a:off x="4013200" y="4192271"/>
            <a:ext cx="7366000" cy="0"/>
          </a:xfrm>
          <a:prstGeom prst="line">
            <a:avLst/>
          </a:prstGeom>
          <a:noFill/>
          <a:ln w="12700">
            <a:solidFill>
              <a:srgbClr val="0E1726"/>
            </a:solidFill>
            <a:prstDash val="solid"/>
          </a:ln>
        </p:spPr>
      </p:sp>
      <p:sp>
        <p:nvSpPr>
          <p:cNvPr id="18" name="Text 15"/>
          <p:cNvSpPr/>
          <p:nvPr/>
        </p:nvSpPr>
        <p:spPr>
          <a:xfrm>
            <a:off x="4013200" y="3837939"/>
            <a:ext cx="7493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726"/>
                </a:solidFill>
                <a:latin typeface="Courier New" pitchFamily="49" charset="0"/>
                <a:ea typeface="Courier New" pitchFamily="49" charset="-122"/>
                <a:cs typeface="Courier New" pitchFamily="49" charset="-120"/>
              </a:rPr>
              <a:t>1:30</a:t>
            </a:r>
            <a:endParaRPr lang="en-US" sz="1400" dirty="0"/>
          </a:p>
        </p:txBody>
      </p:sp>
      <p:sp>
        <p:nvSpPr>
          <p:cNvPr id="19" name="Text 16"/>
          <p:cNvSpPr/>
          <p:nvPr/>
        </p:nvSpPr>
        <p:spPr>
          <a:xfrm>
            <a:off x="4914900" y="3792221"/>
            <a:ext cx="665822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1726"/>
                </a:solidFill>
                <a:latin typeface="Arial" pitchFamily="34" charset="0"/>
                <a:ea typeface="Arial" pitchFamily="34" charset="-122"/>
                <a:cs typeface="Arial" pitchFamily="34" charset="-120"/>
              </a:rPr>
              <a:t>Sửa báo cáo, gửi duyệt</a:t>
            </a:r>
            <a:endParaRPr lang="en-US" sz="1600" dirty="0"/>
          </a:p>
        </p:txBody>
      </p:sp>
      <p:sp>
        <p:nvSpPr>
          <p:cNvPr id="20" name="Text 17"/>
          <p:cNvSpPr/>
          <p:nvPr/>
        </p:nvSpPr>
        <p:spPr>
          <a:xfrm>
            <a:off x="4013200" y="4371342"/>
            <a:ext cx="7493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E1726"/>
                </a:solidFill>
                <a:latin typeface="Courier New" pitchFamily="49" charset="0"/>
                <a:ea typeface="Courier New" pitchFamily="49" charset="-122"/>
                <a:cs typeface="Courier New" pitchFamily="49" charset="-120"/>
              </a:rPr>
              <a:t>2:05</a:t>
            </a:r>
            <a:endParaRPr lang="en-US" sz="1400" dirty="0"/>
          </a:p>
        </p:txBody>
      </p:sp>
      <p:sp>
        <p:nvSpPr>
          <p:cNvPr id="21" name="Text 18"/>
          <p:cNvSpPr/>
          <p:nvPr/>
        </p:nvSpPr>
        <p:spPr>
          <a:xfrm>
            <a:off x="4914900" y="4325621"/>
            <a:ext cx="6658229"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E1726"/>
                </a:solidFill>
                <a:latin typeface="Arial" pitchFamily="34" charset="0"/>
                <a:ea typeface="Arial" pitchFamily="34" charset="-122"/>
                <a:cs typeface="Arial" pitchFamily="34" charset="-120"/>
              </a:rPr>
              <a:t>Reviewer duyệt, xem lịch sử</a:t>
            </a:r>
            <a:endParaRPr lang="en-US" sz="1600" dirty="0"/>
          </a:p>
        </p:txBody>
      </p:sp>
      <p:sp>
        <p:nvSpPr>
          <p:cNvPr id="22" name="Text 19"/>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2E06"/>
                </a:solidFill>
                <a:latin typeface="Courier New" pitchFamily="49" charset="0"/>
                <a:ea typeface="Courier New" pitchFamily="49" charset="-122"/>
                <a:cs typeface="Courier New" pitchFamily="49" charset="-120"/>
              </a:rPr>
              <a:t>IncidentLens · Team P-076</a:t>
            </a:r>
            <a:endParaRPr lang="en-US" sz="1200" dirty="0"/>
          </a:p>
        </p:txBody>
      </p:sp>
      <p:sp>
        <p:nvSpPr>
          <p:cNvPr id="23" name="Text 20"/>
          <p:cNvSpPr/>
          <p:nvPr/>
        </p:nvSpPr>
        <p:spPr>
          <a:xfrm>
            <a:off x="9417050" y="6238242"/>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D2E06"/>
                </a:solidFill>
                <a:latin typeface="Courier New" pitchFamily="49" charset="0"/>
                <a:ea typeface="Courier New" pitchFamily="49" charset="-122"/>
                <a:cs typeface="Courier New" pitchFamily="49" charset="-120"/>
              </a:rPr>
              <a:t>08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7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5A524"/>
                </a:solidFill>
                <a:latin typeface="Courier New" pitchFamily="49" charset="0"/>
                <a:ea typeface="Courier New" pitchFamily="49" charset="-122"/>
                <a:cs typeface="Courier New" pitchFamily="49" charset="-120"/>
              </a:rPr>
              <a:t>08 · THÁCH THỨC &amp; BÀI HỌC</a:t>
            </a:r>
            <a:endParaRPr lang="en-US" sz="1200" dirty="0"/>
          </a:p>
        </p:txBody>
      </p:sp>
      <p:sp>
        <p:nvSpPr>
          <p:cNvPr id="3" name="Text 1"/>
          <p:cNvSpPr/>
          <p:nvPr>
            <p:ph type="title"/>
          </p:nvPr>
        </p:nvSpPr>
        <p:spPr>
          <a:xfrm>
            <a:off x="812800" y="1330964"/>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EEF2F6"/>
                </a:solidFill>
                <a:latin typeface="Arial" pitchFamily="34" charset="0"/>
                <a:ea typeface="Arial" pitchFamily="34" charset="-122"/>
                <a:cs typeface="Arial" pitchFamily="34" charset="-120"/>
              </a:rPr>
              <a:t>Ba điều chúng tôi học được</a:t>
            </a:r>
            <a:endParaRPr lang="en-US" sz="3600" dirty="0"/>
          </a:p>
        </p:txBody>
      </p:sp>
      <p:sp>
        <p:nvSpPr>
          <p:cNvPr id="4" name="Shape 2"/>
          <p:cNvSpPr/>
          <p:nvPr/>
        </p:nvSpPr>
        <p:spPr>
          <a:xfrm>
            <a:off x="815975" y="2164717"/>
            <a:ext cx="3380264" cy="2048510"/>
          </a:xfrm>
          <a:prstGeom prst="roundRect">
            <a:avLst>
              <a:gd name="adj" fmla="val 6045"/>
            </a:avLst>
          </a:prstGeom>
          <a:solidFill>
            <a:srgbClr val="1A2840"/>
          </a:solidFill>
          <a:ln w="6350">
            <a:solidFill>
              <a:srgbClr val="2A3A55"/>
            </a:solidFill>
            <a:prstDash val="solid"/>
          </a:ln>
        </p:spPr>
      </p:sp>
      <p:sp>
        <p:nvSpPr>
          <p:cNvPr id="5" name="Text 3"/>
          <p:cNvSpPr/>
          <p:nvPr/>
        </p:nvSpPr>
        <p:spPr>
          <a:xfrm>
            <a:off x="1071880" y="2420621"/>
            <a:ext cx="29545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A524"/>
                </a:solidFill>
                <a:latin typeface="Courier New" pitchFamily="49" charset="0"/>
                <a:ea typeface="Courier New" pitchFamily="49" charset="-122"/>
                <a:cs typeface="Courier New" pitchFamily="49" charset="-120"/>
              </a:rPr>
              <a:t>KHÓ NHẤT</a:t>
            </a:r>
            <a:endParaRPr lang="en-US" sz="1200" dirty="0"/>
          </a:p>
        </p:txBody>
      </p:sp>
      <p:sp>
        <p:nvSpPr>
          <p:cNvPr id="6" name="Text 4"/>
          <p:cNvSpPr/>
          <p:nvPr/>
        </p:nvSpPr>
        <p:spPr>
          <a:xfrm>
            <a:off x="1071880" y="2760979"/>
            <a:ext cx="2954507"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EEF2F6"/>
                </a:solidFill>
                <a:latin typeface="Arial" pitchFamily="34" charset="0"/>
                <a:ea typeface="Arial" pitchFamily="34" charset="-122"/>
                <a:cs typeface="Arial" pitchFamily="34" charset="-120"/>
              </a:rPr>
              <a:t>Model nhìn từng batch, sự cố kéo dài nhiều giây</a:t>
            </a:r>
            <a:endParaRPr lang="en-US" sz="1800" dirty="0"/>
          </a:p>
        </p:txBody>
      </p:sp>
      <p:sp>
        <p:nvSpPr>
          <p:cNvPr id="7" name="Text 5"/>
          <p:cNvSpPr/>
          <p:nvPr/>
        </p:nvSpPr>
        <p:spPr>
          <a:xfrm>
            <a:off x="1071880" y="3459479"/>
            <a:ext cx="295450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BCB"/>
                </a:solidFill>
                <a:latin typeface="Arial" pitchFamily="34" charset="0"/>
                <a:ea typeface="Arial" pitchFamily="34" charset="-122"/>
                <a:cs typeface="Arial" pitchFamily="34" charset="-120"/>
              </a:rPr>
              <a:t>→ Trigger memory + frame trước/sau</a:t>
            </a:r>
            <a:endParaRPr lang="en-US" sz="1400" dirty="0"/>
          </a:p>
        </p:txBody>
      </p:sp>
      <p:sp>
        <p:nvSpPr>
          <p:cNvPr id="8" name="Shape 6"/>
          <p:cNvSpPr/>
          <p:nvPr/>
        </p:nvSpPr>
        <p:spPr>
          <a:xfrm>
            <a:off x="4405789" y="2164717"/>
            <a:ext cx="3380343" cy="2048510"/>
          </a:xfrm>
          <a:prstGeom prst="roundRect">
            <a:avLst>
              <a:gd name="adj" fmla="val 6045"/>
            </a:avLst>
          </a:prstGeom>
          <a:solidFill>
            <a:srgbClr val="1A2840"/>
          </a:solidFill>
          <a:ln w="6350">
            <a:solidFill>
              <a:srgbClr val="2A3A55"/>
            </a:solidFill>
            <a:prstDash val="solid"/>
          </a:ln>
        </p:spPr>
      </p:sp>
      <p:sp>
        <p:nvSpPr>
          <p:cNvPr id="9" name="Text 7"/>
          <p:cNvSpPr/>
          <p:nvPr/>
        </p:nvSpPr>
        <p:spPr>
          <a:xfrm>
            <a:off x="4661694" y="2420621"/>
            <a:ext cx="29545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A524"/>
                </a:solidFill>
                <a:latin typeface="Courier New" pitchFamily="49" charset="0"/>
                <a:ea typeface="Courier New" pitchFamily="49" charset="-122"/>
                <a:cs typeface="Courier New" pitchFamily="49" charset="-120"/>
              </a:rPr>
              <a:t>BÀI HỌC KỸ THUẬT</a:t>
            </a:r>
            <a:endParaRPr lang="en-US" sz="1200" dirty="0"/>
          </a:p>
        </p:txBody>
      </p:sp>
      <p:sp>
        <p:nvSpPr>
          <p:cNvPr id="10" name="Text 8"/>
          <p:cNvSpPr/>
          <p:nvPr/>
        </p:nvSpPr>
        <p:spPr>
          <a:xfrm>
            <a:off x="4661694" y="2760979"/>
            <a:ext cx="2954589"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EEF2F6"/>
                </a:solidFill>
                <a:latin typeface="Arial" pitchFamily="34" charset="0"/>
                <a:ea typeface="Arial" pitchFamily="34" charset="-122"/>
                <a:cs typeface="Arial" pitchFamily="34" charset="-120"/>
              </a:rPr>
              <a:t>API phản hồi chưa chắc pipeline chạy</a:t>
            </a:r>
            <a:endParaRPr lang="en-US" sz="1800" dirty="0"/>
          </a:p>
        </p:txBody>
      </p:sp>
      <p:sp>
        <p:nvSpPr>
          <p:cNvPr id="11" name="Text 9"/>
          <p:cNvSpPr/>
          <p:nvPr/>
        </p:nvSpPr>
        <p:spPr>
          <a:xfrm>
            <a:off x="4661694" y="3459479"/>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BCB"/>
                </a:solidFill>
                <a:latin typeface="Arial" pitchFamily="34" charset="0"/>
                <a:ea typeface="Arial" pitchFamily="34" charset="-122"/>
                <a:cs typeface="Arial" pitchFamily="34" charset="-120"/>
              </a:rPr>
              <a:t>→ Kiểm tra end-to-end: tunnel, worker, GPU</a:t>
            </a:r>
            <a:endParaRPr lang="en-US" sz="1400" dirty="0"/>
          </a:p>
        </p:txBody>
      </p:sp>
      <p:sp>
        <p:nvSpPr>
          <p:cNvPr id="12" name="Shape 10"/>
          <p:cNvSpPr/>
          <p:nvPr/>
        </p:nvSpPr>
        <p:spPr>
          <a:xfrm>
            <a:off x="7995682" y="2164717"/>
            <a:ext cx="3380343" cy="2048510"/>
          </a:xfrm>
          <a:prstGeom prst="roundRect">
            <a:avLst>
              <a:gd name="adj" fmla="val 6045"/>
            </a:avLst>
          </a:prstGeom>
          <a:solidFill>
            <a:srgbClr val="1A2840"/>
          </a:solidFill>
          <a:ln w="6350">
            <a:solidFill>
              <a:srgbClr val="F5A524"/>
            </a:solidFill>
            <a:prstDash val="solid"/>
          </a:ln>
        </p:spPr>
      </p:sp>
      <p:sp>
        <p:nvSpPr>
          <p:cNvPr id="13" name="Text 11"/>
          <p:cNvSpPr/>
          <p:nvPr/>
        </p:nvSpPr>
        <p:spPr>
          <a:xfrm>
            <a:off x="8251587" y="2420621"/>
            <a:ext cx="29545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A524"/>
                </a:solidFill>
                <a:latin typeface="Courier New" pitchFamily="49" charset="0"/>
                <a:ea typeface="Courier New" pitchFamily="49" charset="-122"/>
                <a:cs typeface="Courier New" pitchFamily="49" charset="-120"/>
              </a:rPr>
              <a:t>NẾU LÀM LẠI</a:t>
            </a:r>
            <a:endParaRPr lang="en-US" sz="1200" dirty="0"/>
          </a:p>
        </p:txBody>
      </p:sp>
      <p:sp>
        <p:nvSpPr>
          <p:cNvPr id="14" name="Text 12"/>
          <p:cNvSpPr/>
          <p:nvPr/>
        </p:nvSpPr>
        <p:spPr>
          <a:xfrm>
            <a:off x="8251587" y="2760979"/>
            <a:ext cx="2954589"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EEF2F6"/>
                </a:solidFill>
                <a:latin typeface="Arial" pitchFamily="34" charset="0"/>
                <a:ea typeface="Arial" pitchFamily="34" charset="-122"/>
                <a:cs typeface="Arial" pitchFamily="34" charset="-120"/>
              </a:rPr>
              <a:t>Khóa golden dataset từ tuần đầu</a:t>
            </a:r>
            <a:endParaRPr lang="en-US" sz="1800" dirty="0"/>
          </a:p>
        </p:txBody>
      </p:sp>
      <p:sp>
        <p:nvSpPr>
          <p:cNvPr id="15" name="Text 13"/>
          <p:cNvSpPr/>
          <p:nvPr/>
        </p:nvSpPr>
        <p:spPr>
          <a:xfrm>
            <a:off x="8251587" y="3459479"/>
            <a:ext cx="29545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EBBCB"/>
                </a:solidFill>
                <a:latin typeface="Arial" pitchFamily="34" charset="0"/>
                <a:ea typeface="Arial" pitchFamily="34" charset="-122"/>
                <a:cs typeface="Arial" pitchFamily="34" charset="-120"/>
              </a:rPr>
              <a:t>→ Đo trước, tối ưu sau</a:t>
            </a:r>
            <a:endParaRPr lang="en-US" sz="1400" dirty="0"/>
          </a:p>
        </p:txBody>
      </p:sp>
      <p:sp>
        <p:nvSpPr>
          <p:cNvPr id="16" name="Text 14"/>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IncidentLens · Team P-076</a:t>
            </a:r>
            <a:endParaRPr lang="en-US" sz="1200" dirty="0"/>
          </a:p>
        </p:txBody>
      </p:sp>
      <p:sp>
        <p:nvSpPr>
          <p:cNvPr id="17" name="Text 15"/>
          <p:cNvSpPr/>
          <p:nvPr/>
        </p:nvSpPr>
        <p:spPr>
          <a:xfrm>
            <a:off x="9417050" y="6238242"/>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09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5A524"/>
                </a:solidFill>
                <a:latin typeface="Courier New" pitchFamily="49" charset="0"/>
                <a:ea typeface="Courier New" pitchFamily="49" charset="-122"/>
                <a:cs typeface="Courier New" pitchFamily="49" charset="-120"/>
              </a:rPr>
              <a:t>09 · TEAM &amp; BƯỚC TIẾP THEO</a:t>
            </a:r>
            <a:endParaRPr lang="en-US" sz="1200" dirty="0"/>
          </a:p>
        </p:txBody>
      </p:sp>
      <p:sp>
        <p:nvSpPr>
          <p:cNvPr id="3" name="Text 1"/>
          <p:cNvSpPr/>
          <p:nvPr>
            <p:ph type="title"/>
          </p:nvPr>
        </p:nvSpPr>
        <p:spPr>
          <a:xfrm>
            <a:off x="812800" y="1330964"/>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EEF2F6"/>
                </a:solidFill>
                <a:latin typeface="Arial" pitchFamily="34" charset="0"/>
                <a:ea typeface="Arial" pitchFamily="34" charset="-122"/>
                <a:cs typeface="Arial" pitchFamily="34" charset="-120"/>
              </a:rPr>
              <a:t>Cảm ơn! Mời BGK đặt câu hỏi</a:t>
            </a:r>
            <a:endParaRPr lang="en-US" sz="3600" dirty="0"/>
          </a:p>
        </p:txBody>
      </p:sp>
      <p:sp>
        <p:nvSpPr>
          <p:cNvPr id="4" name="Text 2"/>
          <p:cNvSpPr/>
          <p:nvPr/>
        </p:nvSpPr>
        <p:spPr>
          <a:xfrm>
            <a:off x="812800" y="2161542"/>
            <a:ext cx="376732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F8DA3"/>
                </a:solidFill>
                <a:latin typeface="Courier New" pitchFamily="49" charset="0"/>
                <a:ea typeface="Courier New" pitchFamily="49" charset="-122"/>
                <a:cs typeface="Courier New" pitchFamily="49" charset="-120"/>
              </a:rPr>
              <a:t>TEAM P-076</a:t>
            </a:r>
            <a:endParaRPr lang="en-US" sz="1200" dirty="0"/>
          </a:p>
        </p:txBody>
      </p:sp>
      <p:sp>
        <p:nvSpPr>
          <p:cNvPr id="5" name="Text 3"/>
          <p:cNvSpPr/>
          <p:nvPr/>
        </p:nvSpPr>
        <p:spPr>
          <a:xfrm>
            <a:off x="812800" y="2501900"/>
            <a:ext cx="376732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2F6"/>
                </a:solidFill>
                <a:latin typeface="Arial" pitchFamily="34" charset="0"/>
                <a:ea typeface="Arial" pitchFamily="34" charset="-122"/>
                <a:cs typeface="Arial" pitchFamily="34" charset="-120"/>
              </a:rPr>
              <a:t>Nam Hoang</a:t>
            </a:r>
            <a:endParaRPr lang="en-US" sz="1600" dirty="0"/>
          </a:p>
        </p:txBody>
      </p:sp>
      <p:sp>
        <p:nvSpPr>
          <p:cNvPr id="6" name="Text 4"/>
          <p:cNvSpPr/>
          <p:nvPr/>
        </p:nvSpPr>
        <p:spPr>
          <a:xfrm>
            <a:off x="812800" y="2786379"/>
            <a:ext cx="37673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BCB"/>
                </a:solidFill>
                <a:latin typeface="Arial" pitchFamily="34" charset="0"/>
                <a:ea typeface="Arial" pitchFamily="34" charset="-122"/>
                <a:cs typeface="Arial" pitchFamily="34" charset="-120"/>
              </a:rPr>
              <a:t>AI pipeline, tích hợp</a:t>
            </a:r>
            <a:endParaRPr lang="en-US" sz="1200" dirty="0"/>
          </a:p>
        </p:txBody>
      </p:sp>
      <p:sp>
        <p:nvSpPr>
          <p:cNvPr id="7" name="Text 5"/>
          <p:cNvSpPr/>
          <p:nvPr/>
        </p:nvSpPr>
        <p:spPr>
          <a:xfrm>
            <a:off x="812800" y="3126742"/>
            <a:ext cx="376732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2F6"/>
                </a:solidFill>
                <a:latin typeface="Arial" pitchFamily="34" charset="0"/>
                <a:ea typeface="Arial" pitchFamily="34" charset="-122"/>
                <a:cs typeface="Arial" pitchFamily="34" charset="-120"/>
              </a:rPr>
              <a:t>Nguyễn Văn Hồng</a:t>
            </a:r>
            <a:endParaRPr lang="en-US" sz="1600" dirty="0"/>
          </a:p>
        </p:txBody>
      </p:sp>
      <p:sp>
        <p:nvSpPr>
          <p:cNvPr id="8" name="Text 6"/>
          <p:cNvSpPr/>
          <p:nvPr/>
        </p:nvSpPr>
        <p:spPr>
          <a:xfrm>
            <a:off x="812800" y="3411221"/>
            <a:ext cx="37673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BCB"/>
                </a:solidFill>
                <a:latin typeface="Arial" pitchFamily="34" charset="0"/>
                <a:ea typeface="Arial" pitchFamily="34" charset="-122"/>
                <a:cs typeface="Arial" pitchFamily="34" charset="-120"/>
              </a:rPr>
              <a:t>Frontend, UX</a:t>
            </a:r>
            <a:endParaRPr lang="en-US" sz="1200" dirty="0"/>
          </a:p>
        </p:txBody>
      </p:sp>
      <p:sp>
        <p:nvSpPr>
          <p:cNvPr id="9" name="Text 7"/>
          <p:cNvSpPr/>
          <p:nvPr/>
        </p:nvSpPr>
        <p:spPr>
          <a:xfrm>
            <a:off x="812800" y="3751579"/>
            <a:ext cx="376732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2F6"/>
                </a:solidFill>
                <a:latin typeface="Arial" pitchFamily="34" charset="0"/>
                <a:ea typeface="Arial" pitchFamily="34" charset="-122"/>
                <a:cs typeface="Arial" pitchFamily="34" charset="-120"/>
              </a:rPr>
              <a:t>Nguyễn Hoàng</a:t>
            </a:r>
            <a:endParaRPr lang="en-US" sz="1600" dirty="0"/>
          </a:p>
        </p:txBody>
      </p:sp>
      <p:sp>
        <p:nvSpPr>
          <p:cNvPr id="10" name="Text 8"/>
          <p:cNvSpPr/>
          <p:nvPr/>
        </p:nvSpPr>
        <p:spPr>
          <a:xfrm>
            <a:off x="812800" y="4036064"/>
            <a:ext cx="37673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BCB"/>
                </a:solidFill>
                <a:latin typeface="Arial" pitchFamily="34" charset="0"/>
                <a:ea typeface="Arial" pitchFamily="34" charset="-122"/>
                <a:cs typeface="Arial" pitchFamily="34" charset="-120"/>
              </a:rPr>
              <a:t>Backend, kiến trúc</a:t>
            </a:r>
            <a:endParaRPr lang="en-US" sz="1200" dirty="0"/>
          </a:p>
        </p:txBody>
      </p:sp>
      <p:sp>
        <p:nvSpPr>
          <p:cNvPr id="11" name="Text 9"/>
          <p:cNvSpPr/>
          <p:nvPr/>
        </p:nvSpPr>
        <p:spPr>
          <a:xfrm>
            <a:off x="812800" y="4376421"/>
            <a:ext cx="376732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EF2F6"/>
                </a:solidFill>
                <a:latin typeface="Arial" pitchFamily="34" charset="0"/>
                <a:ea typeface="Arial" pitchFamily="34" charset="-122"/>
                <a:cs typeface="Arial" pitchFamily="34" charset="-120"/>
              </a:rPr>
              <a:t>LeTuanDat</a:t>
            </a:r>
            <a:endParaRPr lang="en-US" sz="1600" dirty="0"/>
          </a:p>
        </p:txBody>
      </p:sp>
      <p:sp>
        <p:nvSpPr>
          <p:cNvPr id="12" name="Text 10"/>
          <p:cNvSpPr/>
          <p:nvPr/>
        </p:nvSpPr>
        <p:spPr>
          <a:xfrm>
            <a:off x="812800" y="4660900"/>
            <a:ext cx="37673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BCB"/>
                </a:solidFill>
                <a:latin typeface="Arial" pitchFamily="34" charset="0"/>
                <a:ea typeface="Arial" pitchFamily="34" charset="-122"/>
                <a:cs typeface="Arial" pitchFamily="34" charset="-120"/>
              </a:rPr>
              <a:t>Tích hợp Qwen 9B</a:t>
            </a:r>
            <a:endParaRPr lang="en-US" sz="1200" dirty="0"/>
          </a:p>
        </p:txBody>
      </p:sp>
      <p:sp>
        <p:nvSpPr>
          <p:cNvPr id="13" name="Text 11"/>
          <p:cNvSpPr/>
          <p:nvPr/>
        </p:nvSpPr>
        <p:spPr>
          <a:xfrm>
            <a:off x="4826000" y="2161542"/>
            <a:ext cx="376732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F8DA3"/>
                </a:solidFill>
                <a:latin typeface="Courier New" pitchFamily="49" charset="0"/>
                <a:ea typeface="Courier New" pitchFamily="49" charset="-122"/>
                <a:cs typeface="Courier New" pitchFamily="49" charset="-120"/>
              </a:rPr>
              <a:t>TIẾP THEO</a:t>
            </a:r>
            <a:endParaRPr lang="en-US" sz="1200" dirty="0"/>
          </a:p>
        </p:txBody>
      </p:sp>
      <p:sp>
        <p:nvSpPr>
          <p:cNvPr id="14" name="Text 12"/>
          <p:cNvSpPr/>
          <p:nvPr/>
        </p:nvSpPr>
        <p:spPr>
          <a:xfrm>
            <a:off x="4826000" y="2537464"/>
            <a:ext cx="26423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A524"/>
                </a:solidFill>
                <a:latin typeface="Courier New" pitchFamily="49" charset="0"/>
                <a:ea typeface="Courier New" pitchFamily="49" charset="-122"/>
                <a:cs typeface="Courier New" pitchFamily="49" charset="-120"/>
              </a:rPr>
              <a:t>01</a:t>
            </a:r>
            <a:endParaRPr lang="en-US" sz="1400" dirty="0"/>
          </a:p>
        </p:txBody>
      </p:sp>
      <p:sp>
        <p:nvSpPr>
          <p:cNvPr id="15" name="Text 13"/>
          <p:cNvSpPr/>
          <p:nvPr/>
        </p:nvSpPr>
        <p:spPr>
          <a:xfrm>
            <a:off x="5166439" y="2501900"/>
            <a:ext cx="3416676"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EF2F6"/>
                </a:solidFill>
                <a:latin typeface="Arial" pitchFamily="34" charset="0"/>
                <a:ea typeface="Arial" pitchFamily="34" charset="-122"/>
                <a:cs typeface="Arial" pitchFamily="34" charset="-120"/>
              </a:rPr>
              <a:t>50 case golden dataset có chuyên gia</a:t>
            </a:r>
            <a:endParaRPr lang="en-US" sz="1600" dirty="0"/>
          </a:p>
        </p:txBody>
      </p:sp>
      <p:sp>
        <p:nvSpPr>
          <p:cNvPr id="16" name="Text 14"/>
          <p:cNvSpPr/>
          <p:nvPr/>
        </p:nvSpPr>
        <p:spPr>
          <a:xfrm>
            <a:off x="4826000" y="3192779"/>
            <a:ext cx="26423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A524"/>
                </a:solidFill>
                <a:latin typeface="Courier New" pitchFamily="49" charset="0"/>
                <a:ea typeface="Courier New" pitchFamily="49" charset="-122"/>
                <a:cs typeface="Courier New" pitchFamily="49" charset="-120"/>
              </a:rPr>
              <a:t>02</a:t>
            </a:r>
            <a:endParaRPr lang="en-US" sz="1400" dirty="0"/>
          </a:p>
        </p:txBody>
      </p:sp>
      <p:sp>
        <p:nvSpPr>
          <p:cNvPr id="17" name="Text 15"/>
          <p:cNvSpPr/>
          <p:nvPr/>
        </p:nvSpPr>
        <p:spPr>
          <a:xfrm>
            <a:off x="5166439" y="3157221"/>
            <a:ext cx="3672761"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EF2F6"/>
                </a:solidFill>
                <a:latin typeface="Arial" pitchFamily="34" charset="0"/>
                <a:ea typeface="Arial" pitchFamily="34" charset="-122"/>
                <a:cs typeface="Arial" pitchFamily="34" charset="-120"/>
              </a:rPr>
              <a:t>Đo recall, độ đúng bằng chứng, p95</a:t>
            </a:r>
            <a:endParaRPr lang="en-US" sz="1600" dirty="0"/>
          </a:p>
        </p:txBody>
      </p:sp>
      <p:sp>
        <p:nvSpPr>
          <p:cNvPr id="18" name="Text 16"/>
          <p:cNvSpPr/>
          <p:nvPr/>
        </p:nvSpPr>
        <p:spPr>
          <a:xfrm>
            <a:off x="4826000" y="3604264"/>
            <a:ext cx="26423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A524"/>
                </a:solidFill>
                <a:latin typeface="Courier New" pitchFamily="49" charset="0"/>
                <a:ea typeface="Courier New" pitchFamily="49" charset="-122"/>
                <a:cs typeface="Courier New" pitchFamily="49" charset="-120"/>
              </a:rPr>
              <a:t>03</a:t>
            </a:r>
            <a:endParaRPr lang="en-US" sz="1400" dirty="0"/>
          </a:p>
        </p:txBody>
      </p:sp>
      <p:sp>
        <p:nvSpPr>
          <p:cNvPr id="19" name="Text 17"/>
          <p:cNvSpPr/>
          <p:nvPr/>
        </p:nvSpPr>
        <p:spPr>
          <a:xfrm>
            <a:off x="5166439" y="3568700"/>
            <a:ext cx="3416676"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EF2F6"/>
                </a:solidFill>
                <a:latin typeface="Arial" pitchFamily="34" charset="0"/>
                <a:ea typeface="Arial" pitchFamily="34" charset="-122"/>
                <a:cs typeface="Arial" pitchFamily="34" charset="-120"/>
              </a:rPr>
              <a:t>Hoàn thiện workspace V2</a:t>
            </a:r>
            <a:endParaRPr lang="en-US" sz="1600" dirty="0"/>
          </a:p>
        </p:txBody>
      </p:sp>
      <p:sp>
        <p:nvSpPr>
          <p:cNvPr id="20" name="Shape 18"/>
          <p:cNvSpPr/>
          <p:nvPr/>
        </p:nvSpPr>
        <p:spPr>
          <a:xfrm>
            <a:off x="8839200" y="2161542"/>
            <a:ext cx="2540000" cy="2875280"/>
          </a:xfrm>
          <a:prstGeom prst="roundRect">
            <a:avLst>
              <a:gd name="adj" fmla="val 6000"/>
            </a:avLst>
          </a:prstGeom>
          <a:solidFill>
            <a:srgbClr val="EEF2F6"/>
          </a:solidFill>
          <a:ln/>
        </p:spPr>
      </p:sp>
      <p:pic>
        <p:nvPicPr>
          <p:cNvPr id="21" name="Image 0" descr="Mã QR mở c4-app-076.vercel.app">    </p:cNvPr>
          <p:cNvPicPr>
            <a:picLocks noChangeAspect="1"/>
          </p:cNvPicPr>
          <p:nvPr/>
        </p:nvPicPr>
        <p:blipFill>
          <a:blip r:embed="rId1"/>
          <a:srcRect l="0" r="0" t="0" b="0"/>
          <a:stretch/>
        </p:blipFill>
        <p:spPr>
          <a:xfrm>
            <a:off x="9283700" y="2415542"/>
            <a:ext cx="1651000" cy="1651000"/>
          </a:xfrm>
          <a:prstGeom prst="rect">
            <a:avLst/>
          </a:prstGeom>
        </p:spPr>
      </p:pic>
      <p:sp>
        <p:nvSpPr>
          <p:cNvPr id="22" name="Text 19"/>
          <p:cNvSpPr/>
          <p:nvPr/>
        </p:nvSpPr>
        <p:spPr>
          <a:xfrm>
            <a:off x="9231765" y="4193542"/>
            <a:ext cx="1754791"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0E1726"/>
                </a:solidFill>
                <a:latin typeface="Arial" pitchFamily="34" charset="0"/>
                <a:ea typeface="Arial" pitchFamily="34" charset="-122"/>
                <a:cs typeface="Arial" pitchFamily="34" charset="-120"/>
              </a:rPr>
              <a:t>Trải nghiệm ngay</a:t>
            </a:r>
            <a:endParaRPr lang="en-US" sz="1400" dirty="0"/>
          </a:p>
        </p:txBody>
      </p:sp>
      <p:sp>
        <p:nvSpPr>
          <p:cNvPr id="23" name="Text 20"/>
          <p:cNvSpPr/>
          <p:nvPr/>
        </p:nvSpPr>
        <p:spPr>
          <a:xfrm>
            <a:off x="8901914" y="4569464"/>
            <a:ext cx="241449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A60"/>
                </a:solidFill>
                <a:latin typeface="Courier New" pitchFamily="49" charset="0"/>
                <a:ea typeface="Courier New" pitchFamily="49" charset="-122"/>
                <a:cs typeface="Courier New" pitchFamily="49" charset="-120"/>
              </a:rPr>
              <a:t>c4-app-076 .vercel.app</a:t>
            </a:r>
            <a:endParaRPr lang="en-US" sz="1200" dirty="0"/>
          </a:p>
        </p:txBody>
      </p:sp>
      <p:sp>
        <p:nvSpPr>
          <p:cNvPr id="24" name="Text 21"/>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IncidentLens · Team P-076</a:t>
            </a:r>
            <a:endParaRPr lang="en-US" sz="1200" dirty="0"/>
          </a:p>
        </p:txBody>
      </p:sp>
      <p:sp>
        <p:nvSpPr>
          <p:cNvPr id="25" name="Text 22"/>
          <p:cNvSpPr/>
          <p:nvPr/>
        </p:nvSpPr>
        <p:spPr>
          <a:xfrm>
            <a:off x="9417050" y="6238242"/>
            <a:ext cx="19621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F8DA3"/>
                </a:solidFill>
                <a:latin typeface="Courier New" pitchFamily="49" charset="0"/>
                <a:ea typeface="Courier New" pitchFamily="49" charset="-122"/>
                <a:cs typeface="Courier New" pitchFamily="49" charset="-120"/>
              </a:rPr>
              <a:t>10 / 10</a:t>
            </a:r>
            <a:endParaRPr lang="en-US" sz="1200" dirty="0"/>
          </a:p>
        </p:txBody>
      </p:sp>
    </p:spTree>
  </p:cSld>
  <p:clrMapOvr>
    <a:masterClrMapping/>
  </p:clrMapOvr>
</p:sld>
</file>

<file path=ppt/theme/theme1.xml><?xml version="1.0" encoding="utf-8"?>
<a:theme xmlns:a="http://schemas.openxmlformats.org/drawingml/2006/main" name="IncidentLens — Demo Day">
  <a:themeElements>
    <a:clrScheme name="IncidentLens — Demo Day">
      <a:dk1>
        <a:srgbClr val="0E1726"/>
      </a:dk1>
      <a:lt1>
        <a:srgbClr val="EEF2F6"/>
      </a:lt1>
      <a:dk2>
        <a:srgbClr val="242D3B"/>
      </a:dk2>
      <a:lt2>
        <a:srgbClr val="B6BBC2"/>
      </a:lt2>
      <a:accent1>
        <a:srgbClr val="F5A524"/>
      </a:accent1>
      <a:accent2>
        <a:srgbClr val="3D2E06"/>
      </a:accent2>
      <a:accent3>
        <a:srgbClr val="1D3050"/>
      </a:accent3>
      <a:accent4>
        <a:srgbClr val="FBE3B0"/>
      </a:accent4>
      <a:accent5>
        <a:srgbClr val="7F8DA3"/>
      </a:accent5>
      <a:accent6>
        <a:srgbClr val="1A2840"/>
      </a:accent6>
      <a:hlink>
        <a:srgbClr val="0563C1"/>
      </a:hlink>
      <a:folHlink>
        <a:srgbClr val="954F72"/>
      </a:folHlink>
    </a:clrScheme>
    <a:fontScheme name="IncidentLens — Demo Da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IncidentLens — Demo Day</dc:title>
  <dc:subject/>
  <dc:creator/>
  <cp:lastModifiedBy/>
  <cp:revision>1</cp:revision>
  <dcterms:created xsi:type="dcterms:W3CDTF">2026-10-18T10:54:22Z</dcterms:created>
  <dcterms:modified xsi:type="dcterms:W3CDTF">2026-10-18T10:54:22Z</dcterms:modified>
</cp:coreProperties>
</file>